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7" r:id="rId2"/>
    <p:sldId id="256" r:id="rId3"/>
    <p:sldId id="258" r:id="rId4"/>
    <p:sldId id="257" r:id="rId5"/>
    <p:sldId id="259" r:id="rId6"/>
    <p:sldId id="260" r:id="rId7"/>
    <p:sldId id="262" r:id="rId8"/>
    <p:sldId id="261" r:id="rId9"/>
    <p:sldId id="268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5DFB7-DB62-40C9-976E-1ED1797F21F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CA5F9-2BA3-4EFC-9853-4019A8F500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791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A5F9-2BA3-4EFC-9853-4019A8F500E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825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A5F9-2BA3-4EFC-9853-4019A8F500E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854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A5F9-2BA3-4EFC-9853-4019A8F500E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369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DB8045-DECD-143B-2456-2235DE36F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79BF45C-0996-F342-AB64-5F4A1526AE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AA9FD2-9D2C-75F3-4302-EB66304F2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99A7A-2348-4457-9709-DC7A622E28F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9FD27C-AE62-257E-A9D1-29E578386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D884B0-2C7A-BBEB-9252-567132F91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42F5-DF2F-403B-BD79-BD23AC22D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860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3A1D2A-791B-770F-B091-600B50C56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329CE0-7E1F-C691-704C-F49B07596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AE5368-B94E-BE45-107D-E1E07D1D4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99A7A-2348-4457-9709-DC7A622E28F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2151EE-C416-FCFE-796A-9A0B8D7B2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2A7789-A009-192F-1A16-E991A13EE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42F5-DF2F-403B-BD79-BD23AC22D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868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0F4A51-FFCF-ACAB-2350-90C85A64A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D6C03C-20C6-B729-C9CE-F5EEF4683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E69AD6-95A1-255C-92BC-AB7100CE4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99A7A-2348-4457-9709-DC7A622E28F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4936C2-B3E2-D5F2-AF84-8A6C53D7F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EF266B-1E9A-46B9-4B25-E55CE354D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42F5-DF2F-403B-BD79-BD23AC22D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951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425669-8B4F-9E57-E98E-7AF10137A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BB69FE-57AA-86CD-2CDC-09C2A765D1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A26277-466C-8A85-9E24-A7BC3EE8D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FDF3BC-A22E-179A-9516-F138B0EB0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99A7A-2348-4457-9709-DC7A622E28F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D361D5-1FB6-9897-73C5-35BB21FB8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88A615-8F03-6FC6-D9D1-B34AFA3D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42F5-DF2F-403B-BD79-BD23AC22D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174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3BFF0B-FAE4-A9D5-09F6-4F02A6A77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39FC07-8182-C389-98E6-9A5E6E34F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20CA717-EDD9-8499-8621-B3620069B8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9F838C0-5078-4430-F178-04599E57CF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2FED9DF-4463-DDE7-90A0-7375A7D1FF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86C6898-C548-9A9B-E5DD-50FB33C2C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99A7A-2348-4457-9709-DC7A622E28F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88DF375-69A5-F49F-CB0F-631611E94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27124D7-4461-C1A9-8318-E9A776FA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42F5-DF2F-403B-BD79-BD23AC22D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078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D22247-20E1-9BD9-A337-9C633A58B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596A10F-D0D8-63D1-01EE-6FDB8A3B3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99A7A-2348-4457-9709-DC7A622E28F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0E51BA-CA6D-E16A-2589-5244A0CED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E6B166-E1A9-403F-BBBE-244383D27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42F5-DF2F-403B-BD79-BD23AC22D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62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27579FA-6B11-3ED4-A476-6500D69ED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99A7A-2348-4457-9709-DC7A622E28F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6585BBD-E142-69CA-FAB4-28D9A274B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75C8E4-2992-2056-21A3-6EEE1C00C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42F5-DF2F-403B-BD79-BD23AC22D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039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5AF6BA-5BA5-63DB-EBCD-3795BABE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6280FF-8AB5-EE81-7C3B-ECDDCC5AE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D8EAC8-1A81-8D97-5C5C-89C5AA6DF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8477A5-967F-8126-EE90-335F0F541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99A7A-2348-4457-9709-DC7A622E28F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68F458-AE18-2453-646F-F6F91FCB6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D98E47-79BC-76BE-503E-51FEA961A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42F5-DF2F-403B-BD79-BD23AC22D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401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2D3A2B-CA6C-0838-D8CF-BB63D9A44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A6979A8-FEC4-BADF-6C46-81009B346B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2D1459-72C7-E20A-2E73-90E5209DF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576E4B-4373-E191-2709-44B6351D3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99A7A-2348-4457-9709-DC7A622E28F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6C958E-A0C3-3BF6-8FE1-7F4E5EBEC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4F1586-4C0C-31DF-948D-2546B7DB7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42F5-DF2F-403B-BD79-BD23AC22D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799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97366C-9755-04AD-DBEB-984FEFA4A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10925D-7B9F-F4DF-D739-2C73F3098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CCA085-5914-4F16-8510-C43CA161D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99A7A-2348-4457-9709-DC7A622E28F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22F897-E57C-B6D1-FAF5-68359F3ED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BC5076-393F-7277-B8CA-C2FA71BB4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42F5-DF2F-403B-BD79-BD23AC22D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548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597C704-1EFE-D764-6306-09A67D92F5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6BCE3D-54D2-8C04-D1E4-36E6BE73B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649603-F8A1-AC55-239A-49B06C377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99A7A-2348-4457-9709-DC7A622E28F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F2D057-6346-3EB7-D217-8D749EE4E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1F3105-3B00-D6BF-72B3-E5C61F89E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E42F5-DF2F-403B-BD79-BD23AC22D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27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F579FC-EEB2-690B-16D4-68F484A42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474C74-342F-89A9-AC86-FD3005F7F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8709FE-BF1C-9B25-6350-FF2D2EAC43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99A7A-2348-4457-9709-DC7A622E28F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59C2F6-2824-C3B7-70A7-82E8BABD4D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485297-9E5D-A975-599F-53498212D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E42F5-DF2F-403B-BD79-BD23AC22D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52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05B66BC4-D17F-FC88-7FE5-E1825E013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78540" y="311540"/>
            <a:ext cx="6234920" cy="623492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5BA9EB8-71B5-7C18-2E2C-A899C4170D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92" b="14592"/>
          <a:stretch/>
        </p:blipFill>
        <p:spPr>
          <a:xfrm>
            <a:off x="191346" y="116631"/>
            <a:ext cx="11809309" cy="5226782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58921D66-1B35-ABE6-8138-4FF3FB98CFF7}"/>
              </a:ext>
            </a:extLst>
          </p:cNvPr>
          <p:cNvSpPr/>
          <p:nvPr/>
        </p:nvSpPr>
        <p:spPr>
          <a:xfrm>
            <a:off x="191345" y="110465"/>
            <a:ext cx="11809309" cy="5226782"/>
          </a:xfrm>
          <a:prstGeom prst="rect">
            <a:avLst/>
          </a:prstGeom>
          <a:solidFill>
            <a:srgbClr val="156082">
              <a:alpha val="82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平行四边形 15">
            <a:extLst>
              <a:ext uri="{FF2B5EF4-FFF2-40B4-BE49-F238E27FC236}">
                <a16:creationId xmlns:a16="http://schemas.microsoft.com/office/drawing/2014/main" id="{6CF2EDDC-A06A-46A5-F331-1D4233CCDE21}"/>
              </a:ext>
            </a:extLst>
          </p:cNvPr>
          <p:cNvSpPr/>
          <p:nvPr/>
        </p:nvSpPr>
        <p:spPr>
          <a:xfrm>
            <a:off x="4949527" y="5155867"/>
            <a:ext cx="2292946" cy="383827"/>
          </a:xfrm>
          <a:prstGeom prst="parallelogram">
            <a:avLst/>
          </a:prstGeom>
          <a:solidFill>
            <a:sysClr val="window" lastClr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文本占位符 32">
            <a:extLst>
              <a:ext uri="{FF2B5EF4-FFF2-40B4-BE49-F238E27FC236}">
                <a16:creationId xmlns:a16="http://schemas.microsoft.com/office/drawing/2014/main" id="{A757F9DD-A761-9553-A53D-1D73428FA5A6}"/>
              </a:ext>
            </a:extLst>
          </p:cNvPr>
          <p:cNvSpPr txBox="1">
            <a:spLocks/>
          </p:cNvSpPr>
          <p:nvPr/>
        </p:nvSpPr>
        <p:spPr>
          <a:xfrm>
            <a:off x="4791075" y="5132077"/>
            <a:ext cx="2609850" cy="5583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2026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sz="2400" b="1" dirty="0">
                <a:solidFill>
                  <a:srgbClr val="15608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日</a:t>
            </a:r>
          </a:p>
        </p:txBody>
      </p:sp>
      <p:sp>
        <p:nvSpPr>
          <p:cNvPr id="18" name="文本占位符 24">
            <a:extLst>
              <a:ext uri="{FF2B5EF4-FFF2-40B4-BE49-F238E27FC236}">
                <a16:creationId xmlns:a16="http://schemas.microsoft.com/office/drawing/2014/main" id="{9EAAE363-B0A3-FF96-9F33-85FFD4A83DAD}"/>
              </a:ext>
            </a:extLst>
          </p:cNvPr>
          <p:cNvSpPr txBox="1">
            <a:spLocks/>
          </p:cNvSpPr>
          <p:nvPr/>
        </p:nvSpPr>
        <p:spPr>
          <a:xfrm>
            <a:off x="515378" y="2218964"/>
            <a:ext cx="11161239" cy="2133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开题报告展示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文本占位符 27">
            <a:extLst>
              <a:ext uri="{FF2B5EF4-FFF2-40B4-BE49-F238E27FC236}">
                <a16:creationId xmlns:a16="http://schemas.microsoft.com/office/drawing/2014/main" id="{E510B2BD-BB1A-AAB3-1482-C19A78A867F0}"/>
              </a:ext>
            </a:extLst>
          </p:cNvPr>
          <p:cNvSpPr txBox="1">
            <a:spLocks/>
          </p:cNvSpPr>
          <p:nvPr/>
        </p:nvSpPr>
        <p:spPr>
          <a:xfrm>
            <a:off x="741681" y="3870938"/>
            <a:ext cx="10708632" cy="10648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基于计算机视觉的智能演播室图像合成系统设计与实现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抠图与背景叠加程序及特效添加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38E0C7F-D6A5-B607-D520-7E6ABFD7C9B9}"/>
              </a:ext>
            </a:extLst>
          </p:cNvPr>
          <p:cNvCxnSpPr>
            <a:cxnSpLocks/>
          </p:cNvCxnSpPr>
          <p:nvPr/>
        </p:nvCxnSpPr>
        <p:spPr>
          <a:xfrm>
            <a:off x="2120482" y="3637706"/>
            <a:ext cx="7632848" cy="0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pic>
        <p:nvPicPr>
          <p:cNvPr id="21" name="图片 20">
            <a:extLst>
              <a:ext uri="{FF2B5EF4-FFF2-40B4-BE49-F238E27FC236}">
                <a16:creationId xmlns:a16="http://schemas.microsoft.com/office/drawing/2014/main" id="{BA9A1F9C-B2CC-7DDF-8595-9737424012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515" y="531723"/>
            <a:ext cx="4906970" cy="1533429"/>
          </a:xfrm>
          <a:prstGeom prst="rect">
            <a:avLst/>
          </a:prstGeom>
        </p:spPr>
      </p:pic>
      <p:sp>
        <p:nvSpPr>
          <p:cNvPr id="22" name="流程图: 过程 21">
            <a:extLst>
              <a:ext uri="{FF2B5EF4-FFF2-40B4-BE49-F238E27FC236}">
                <a16:creationId xmlns:a16="http://schemas.microsoft.com/office/drawing/2014/main" id="{A215CC6B-2C7C-7D13-1A02-A572948301FE}"/>
              </a:ext>
            </a:extLst>
          </p:cNvPr>
          <p:cNvSpPr/>
          <p:nvPr/>
        </p:nvSpPr>
        <p:spPr>
          <a:xfrm>
            <a:off x="1362349" y="5711445"/>
            <a:ext cx="3709972" cy="829428"/>
          </a:xfrm>
          <a:prstGeom prst="flowChartProcess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天津大学电子信息工程专业</a:t>
            </a:r>
          </a:p>
        </p:txBody>
      </p:sp>
      <p:sp>
        <p:nvSpPr>
          <p:cNvPr id="23" name="流程图: 过程 22">
            <a:extLst>
              <a:ext uri="{FF2B5EF4-FFF2-40B4-BE49-F238E27FC236}">
                <a16:creationId xmlns:a16="http://schemas.microsoft.com/office/drawing/2014/main" id="{2BBB014C-B517-7073-AE69-B5982B3C2CBB}"/>
              </a:ext>
            </a:extLst>
          </p:cNvPr>
          <p:cNvSpPr/>
          <p:nvPr/>
        </p:nvSpPr>
        <p:spPr>
          <a:xfrm>
            <a:off x="6967282" y="5711445"/>
            <a:ext cx="3709972" cy="829428"/>
          </a:xfrm>
          <a:prstGeom prst="flowChartProcess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赵子涵</a:t>
            </a:r>
            <a:r>
              <a:rPr lang="en-US" altLang="zh-CN" sz="2400" kern="0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郑亨通 胡艺篷</a:t>
            </a:r>
          </a:p>
        </p:txBody>
      </p:sp>
    </p:spTree>
    <p:extLst>
      <p:ext uri="{BB962C8B-B14F-4D97-AF65-F5344CB8AC3E}">
        <p14:creationId xmlns:p14="http://schemas.microsoft.com/office/powerpoint/2010/main" val="2467354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E942949E-9431-A750-FFAA-13750D3F1C7F}"/>
              </a:ext>
            </a:extLst>
          </p:cNvPr>
          <p:cNvSpPr/>
          <p:nvPr/>
        </p:nvSpPr>
        <p:spPr>
          <a:xfrm>
            <a:off x="275301" y="4546701"/>
            <a:ext cx="11641396" cy="22244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E769DF-600A-5DE7-8817-AC5137D481ED}"/>
              </a:ext>
            </a:extLst>
          </p:cNvPr>
          <p:cNvSpPr/>
          <p:nvPr/>
        </p:nvSpPr>
        <p:spPr>
          <a:xfrm>
            <a:off x="275303" y="602390"/>
            <a:ext cx="5476568" cy="3339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7D3668-AF49-38D9-8924-6B50F12C5D65}"/>
              </a:ext>
            </a:extLst>
          </p:cNvPr>
          <p:cNvSpPr/>
          <p:nvPr/>
        </p:nvSpPr>
        <p:spPr>
          <a:xfrm>
            <a:off x="6440129" y="602390"/>
            <a:ext cx="5476568" cy="3339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E472C2B-6D1E-A58E-DF49-BFBA5A40803A}"/>
              </a:ext>
            </a:extLst>
          </p:cNvPr>
          <p:cNvSpPr/>
          <p:nvPr/>
        </p:nvSpPr>
        <p:spPr>
          <a:xfrm>
            <a:off x="4770120" y="4686709"/>
            <a:ext cx="2651760" cy="7010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b="1" dirty="0">
                <a:solidFill>
                  <a:srgbClr val="FFFF00"/>
                </a:solidFill>
              </a:rPr>
              <a:t>选题意义</a:t>
            </a:r>
            <a:endParaRPr lang="zh-CN" altLang="en-US" sz="2400" dirty="0">
              <a:solidFill>
                <a:srgbClr val="FFFF00"/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7E5BDFA-A68B-935C-4A05-F20AF606CB42}"/>
              </a:ext>
            </a:extLst>
          </p:cNvPr>
          <p:cNvSpPr/>
          <p:nvPr/>
        </p:nvSpPr>
        <p:spPr>
          <a:xfrm>
            <a:off x="1387987" y="732504"/>
            <a:ext cx="32512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FFFF00"/>
                </a:solidFill>
              </a:rPr>
              <a:t>行业背景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1030EB5-7A9B-2C99-1968-550244F5C112}"/>
              </a:ext>
            </a:extLst>
          </p:cNvPr>
          <p:cNvSpPr/>
          <p:nvPr/>
        </p:nvSpPr>
        <p:spPr>
          <a:xfrm>
            <a:off x="7552813" y="732504"/>
            <a:ext cx="32512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FFFF00"/>
                </a:solidFill>
              </a:rPr>
              <a:t>应用价值</a:t>
            </a:r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1AD60B03-93C5-6D70-F896-98A748143592}"/>
              </a:ext>
            </a:extLst>
          </p:cNvPr>
          <p:cNvSpPr/>
          <p:nvPr/>
        </p:nvSpPr>
        <p:spPr>
          <a:xfrm>
            <a:off x="2163259" y="3997602"/>
            <a:ext cx="1922604" cy="4368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2987784-C010-0724-1FF2-D90D8E37F384}"/>
              </a:ext>
            </a:extLst>
          </p:cNvPr>
          <p:cNvSpPr txBox="1"/>
          <p:nvPr/>
        </p:nvSpPr>
        <p:spPr>
          <a:xfrm>
            <a:off x="275303" y="1499584"/>
            <a:ext cx="547656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p"/>
            </a:pPr>
            <a:r>
              <a:rPr lang="zh-CN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演播室图像合成是现代广播电视、网络直播、虚拟制片的核心技术</a:t>
            </a:r>
          </a:p>
          <a:p>
            <a:pPr marL="342900" lvl="0" indent="-342900" algn="just">
              <a:buFont typeface="Wingdings" panose="05000000000000000000" pitchFamily="2" charset="2"/>
              <a:buChar char="p"/>
            </a:pPr>
            <a:r>
              <a:rPr lang="zh-CN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传统演播室依赖物理绿幕+专业硬件合成设备（如Blackmagic ATEM），成本高、部署复杂</a:t>
            </a:r>
          </a:p>
          <a:p>
            <a:pPr marL="342900" lvl="0" indent="-342900" algn="just">
              <a:buFont typeface="Wingdings" panose="05000000000000000000" pitchFamily="2" charset="2"/>
              <a:buChar char="p"/>
            </a:pPr>
            <a:r>
              <a:rPr lang="zh-CN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AIGC与实时渲染技术快速发展，虚拟制片已从电影领域向中小型工作室普及</a:t>
            </a:r>
          </a:p>
          <a:p>
            <a:pPr marL="342900" indent="-342900" algn="just">
              <a:buFont typeface="Wingdings" panose="05000000000000000000" pitchFamily="2" charset="2"/>
              <a:buChar char="p"/>
            </a:pPr>
            <a:endParaRPr lang="zh-CN" altLang="en-US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BDB5FBF-FB35-5E40-05DB-2A5C1605BA06}"/>
              </a:ext>
            </a:extLst>
          </p:cNvPr>
          <p:cNvSpPr txBox="1"/>
          <p:nvPr/>
        </p:nvSpPr>
        <p:spPr>
          <a:xfrm>
            <a:off x="6424889" y="1553270"/>
            <a:ext cx="54765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降低演播室搭建门槛，用软件方案替代昂贵硬件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适用于新闻播报、在线教育、短视频直播、虚拟会议等场景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符合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新质生产力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方向中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促进数字经济和实体经济深度融合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的要求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93F20A7-0EA5-07BF-F918-380F41C1FFFB}"/>
              </a:ext>
            </a:extLst>
          </p:cNvPr>
          <p:cNvSpPr/>
          <p:nvPr/>
        </p:nvSpPr>
        <p:spPr>
          <a:xfrm>
            <a:off x="547547" y="5808400"/>
            <a:ext cx="4932078" cy="82608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zh-CN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将计算机视觉中的抠图、背景替换、特效合成等技术整合为一体化系统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B3B86A9-D1B5-1510-754B-BFDA380297B6}"/>
              </a:ext>
            </a:extLst>
          </p:cNvPr>
          <p:cNvSpPr/>
          <p:nvPr/>
        </p:nvSpPr>
        <p:spPr>
          <a:xfrm>
            <a:off x="6697134" y="5808400"/>
            <a:ext cx="4932078" cy="82608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zh-CN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以低成本方案实现专业级演播室效果，具有实际工程应用价值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C7AE4AE1-CB83-BBB4-E894-32F233DB5AF2}"/>
              </a:ext>
            </a:extLst>
          </p:cNvPr>
          <p:cNvCxnSpPr>
            <a:cxnSpLocks/>
            <a:stCxn id="12" idx="4"/>
          </p:cNvCxnSpPr>
          <p:nvPr/>
        </p:nvCxnSpPr>
        <p:spPr>
          <a:xfrm flipH="1">
            <a:off x="3013586" y="5387749"/>
            <a:ext cx="3082414" cy="42065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606460D-D624-C583-511B-7B2A3E00BC4F}"/>
              </a:ext>
            </a:extLst>
          </p:cNvPr>
          <p:cNvCxnSpPr>
            <a:cxnSpLocks/>
            <a:stCxn id="12" idx="4"/>
          </p:cNvCxnSpPr>
          <p:nvPr/>
        </p:nvCxnSpPr>
        <p:spPr>
          <a:xfrm>
            <a:off x="6096000" y="5387749"/>
            <a:ext cx="3067173" cy="42065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箭头: 下 36">
            <a:extLst>
              <a:ext uri="{FF2B5EF4-FFF2-40B4-BE49-F238E27FC236}">
                <a16:creationId xmlns:a16="http://schemas.microsoft.com/office/drawing/2014/main" id="{DAFEDFD7-1FAF-0C74-9FDD-E676D4AA218D}"/>
              </a:ext>
            </a:extLst>
          </p:cNvPr>
          <p:cNvSpPr/>
          <p:nvPr/>
        </p:nvSpPr>
        <p:spPr>
          <a:xfrm>
            <a:off x="8201871" y="3984834"/>
            <a:ext cx="1922604" cy="4368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CDF79FA-7876-9A1C-7174-2137DFF5BF40}"/>
              </a:ext>
            </a:extLst>
          </p:cNvPr>
          <p:cNvSpPr txBox="1"/>
          <p:nvPr/>
        </p:nvSpPr>
        <p:spPr>
          <a:xfrm>
            <a:off x="203200" y="5814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 b="1" i="0">
                <a:solidFill>
                  <a:schemeClr val="accent1"/>
                </a:solidFill>
                <a:effectLst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选题背景与意义</a:t>
            </a: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9D967FCC-E7E0-C51E-EF3A-17349E19896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4969" y="93679"/>
            <a:ext cx="1685135" cy="52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506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5940C-5C5F-646F-7593-0FD2EEA40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D7A658EE-1A34-89B5-EB58-43884E3EDFE3}"/>
              </a:ext>
            </a:extLst>
          </p:cNvPr>
          <p:cNvSpPr/>
          <p:nvPr/>
        </p:nvSpPr>
        <p:spPr>
          <a:xfrm>
            <a:off x="275303" y="568960"/>
            <a:ext cx="5476568" cy="31718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8A0236-5C5D-4E52-F46A-7EE77C9D8A49}"/>
              </a:ext>
            </a:extLst>
          </p:cNvPr>
          <p:cNvSpPr/>
          <p:nvPr/>
        </p:nvSpPr>
        <p:spPr>
          <a:xfrm>
            <a:off x="6440129" y="568960"/>
            <a:ext cx="5476568" cy="31718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菱形 12">
            <a:extLst>
              <a:ext uri="{FF2B5EF4-FFF2-40B4-BE49-F238E27FC236}">
                <a16:creationId xmlns:a16="http://schemas.microsoft.com/office/drawing/2014/main" id="{26E66FFE-15EA-DC4B-B433-928EBAE38810}"/>
              </a:ext>
            </a:extLst>
          </p:cNvPr>
          <p:cNvSpPr/>
          <p:nvPr/>
        </p:nvSpPr>
        <p:spPr>
          <a:xfrm>
            <a:off x="1387987" y="651224"/>
            <a:ext cx="3251200" cy="6096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FFFF00"/>
                </a:solidFill>
              </a:rPr>
              <a:t>国外产品</a:t>
            </a:r>
          </a:p>
        </p:txBody>
      </p:sp>
      <p:sp>
        <p:nvSpPr>
          <p:cNvPr id="15" name="菱形 14">
            <a:extLst>
              <a:ext uri="{FF2B5EF4-FFF2-40B4-BE49-F238E27FC236}">
                <a16:creationId xmlns:a16="http://schemas.microsoft.com/office/drawing/2014/main" id="{05C415A2-D47E-FBCA-C808-1B59BE239E45}"/>
              </a:ext>
            </a:extLst>
          </p:cNvPr>
          <p:cNvSpPr/>
          <p:nvPr/>
        </p:nvSpPr>
        <p:spPr>
          <a:xfrm>
            <a:off x="7552813" y="651224"/>
            <a:ext cx="3251200" cy="6096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FFFF00"/>
                </a:solidFill>
              </a:rPr>
              <a:t>国内产品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0CEF157-6515-B38B-7513-79DA261835A3}"/>
              </a:ext>
            </a:extLst>
          </p:cNvPr>
          <p:cNvGrpSpPr/>
          <p:nvPr/>
        </p:nvGrpSpPr>
        <p:grpSpPr>
          <a:xfrm>
            <a:off x="352117" y="1337295"/>
            <a:ext cx="5215563" cy="624569"/>
            <a:chOff x="352117" y="1337295"/>
            <a:chExt cx="5215563" cy="624569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7F90C26-47E6-B054-B1F4-1ADF201271C7}"/>
                </a:ext>
              </a:extLst>
            </p:cNvPr>
            <p:cNvSpPr/>
            <p:nvPr/>
          </p:nvSpPr>
          <p:spPr>
            <a:xfrm>
              <a:off x="1977716" y="1341120"/>
              <a:ext cx="3589964" cy="62074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zh-CN" sz="1600" dirty="0">
                  <a:solidFill>
                    <a:schemeClr val="accent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开源，支持抠图，但特效</a:t>
              </a:r>
              <a:r>
                <a:rPr lang="zh-CN" altLang="zh-CN" sz="16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能力有限</a:t>
              </a:r>
              <a:endParaRPr lang="zh-CN" altLang="en-US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9CD2D309-E8BC-BEE4-41C6-DC00F9107460}"/>
                </a:ext>
              </a:extLst>
            </p:cNvPr>
            <p:cNvSpPr/>
            <p:nvPr/>
          </p:nvSpPr>
          <p:spPr>
            <a:xfrm>
              <a:off x="352117" y="1337295"/>
              <a:ext cx="1625599" cy="6096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OBS Studio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64C2CD64-161A-66A4-BCDC-48249ACBEAFA}"/>
              </a:ext>
            </a:extLst>
          </p:cNvPr>
          <p:cNvGrpSpPr/>
          <p:nvPr/>
        </p:nvGrpSpPr>
        <p:grpSpPr>
          <a:xfrm>
            <a:off x="6636670" y="1368629"/>
            <a:ext cx="2526503" cy="2273170"/>
            <a:chOff x="182734" y="1337294"/>
            <a:chExt cx="2708236" cy="2273170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55B3F34-1E96-9C02-9906-9FA19695AFE0}"/>
                </a:ext>
              </a:extLst>
            </p:cNvPr>
            <p:cNvSpPr/>
            <p:nvPr/>
          </p:nvSpPr>
          <p:spPr>
            <a:xfrm>
              <a:off x="182734" y="2285293"/>
              <a:ext cx="2708236" cy="132517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提供一键绿幕功能，但</a:t>
              </a:r>
              <a:r>
                <a:rPr lang="zh-CN" altLang="en-US" sz="16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可定制性差</a:t>
              </a: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3E6A89D3-F1BF-C173-9F73-F5005A4541AA}"/>
                </a:ext>
              </a:extLst>
            </p:cNvPr>
            <p:cNvSpPr/>
            <p:nvPr/>
          </p:nvSpPr>
          <p:spPr>
            <a:xfrm>
              <a:off x="315112" y="1337294"/>
              <a:ext cx="2443480" cy="72972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B</a:t>
              </a:r>
              <a:r>
                <a:rPr lang="zh-CN" altLang="en-US" sz="1600" b="1" dirty="0"/>
                <a:t>站</a:t>
              </a:r>
              <a:r>
                <a:rPr lang="en-US" altLang="zh-CN" sz="1600" b="1" dirty="0"/>
                <a:t>/</a:t>
              </a:r>
              <a:r>
                <a:rPr lang="zh-CN" altLang="en-US" sz="1600" b="1" dirty="0"/>
                <a:t>抖音虚拟直播工具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98724FA-1C47-D433-18DC-011FC312DA35}"/>
              </a:ext>
            </a:extLst>
          </p:cNvPr>
          <p:cNvGrpSpPr/>
          <p:nvPr/>
        </p:nvGrpSpPr>
        <p:grpSpPr>
          <a:xfrm>
            <a:off x="352117" y="2911278"/>
            <a:ext cx="5215563" cy="624569"/>
            <a:chOff x="352117" y="1337295"/>
            <a:chExt cx="5215563" cy="624569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CA61F47-B136-8263-6B18-66B7BFCA9D39}"/>
                </a:ext>
              </a:extLst>
            </p:cNvPr>
            <p:cNvSpPr/>
            <p:nvPr/>
          </p:nvSpPr>
          <p:spPr>
            <a:xfrm>
              <a:off x="1977716" y="1341120"/>
              <a:ext cx="3589964" cy="62074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实</a:t>
              </a:r>
              <a:r>
                <a:rPr lang="zh-CN" altLang="zh-CN" sz="1600" dirty="0">
                  <a:solidFill>
                    <a:schemeClr val="accent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时渲染引擎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但</a:t>
              </a:r>
              <a:r>
                <a:rPr lang="zh-CN" altLang="zh-CN" sz="1600" dirty="0">
                  <a:solidFill>
                    <a:schemeClr val="accent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学习</a:t>
              </a:r>
              <a:r>
                <a:rPr lang="zh-CN" altLang="zh-CN" sz="16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成本高</a:t>
              </a:r>
              <a:endParaRPr lang="zh-CN" altLang="en-US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134F274B-FA52-0BF3-DFF5-2E6F76DE6A85}"/>
                </a:ext>
              </a:extLst>
            </p:cNvPr>
            <p:cNvSpPr/>
            <p:nvPr/>
          </p:nvSpPr>
          <p:spPr>
            <a:xfrm>
              <a:off x="352117" y="1337295"/>
              <a:ext cx="1625599" cy="6096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Unreal Engin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97F8E21-AF9E-24D3-5A01-5704DCE32FE0}"/>
              </a:ext>
            </a:extLst>
          </p:cNvPr>
          <p:cNvGrpSpPr/>
          <p:nvPr/>
        </p:nvGrpSpPr>
        <p:grpSpPr>
          <a:xfrm>
            <a:off x="352117" y="2137641"/>
            <a:ext cx="5215563" cy="624569"/>
            <a:chOff x="352117" y="1337295"/>
            <a:chExt cx="5215563" cy="624569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C41B1D6-82D8-9286-C30E-86E4D2978BA5}"/>
                </a:ext>
              </a:extLst>
            </p:cNvPr>
            <p:cNvSpPr/>
            <p:nvPr/>
          </p:nvSpPr>
          <p:spPr>
            <a:xfrm>
              <a:off x="1977716" y="1341120"/>
              <a:ext cx="3589964" cy="62074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专业级，功能强大但</a:t>
              </a:r>
              <a:r>
                <a:rPr lang="zh-CN" altLang="en-US" sz="16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价格昂贵</a:t>
              </a:r>
              <a:endParaRPr lang="zh-CN" altLang="en-US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265D7710-6E13-A0D6-F16F-7EF84730C718}"/>
                </a:ext>
              </a:extLst>
            </p:cNvPr>
            <p:cNvSpPr/>
            <p:nvPr/>
          </p:nvSpPr>
          <p:spPr>
            <a:xfrm>
              <a:off x="352117" y="1337295"/>
              <a:ext cx="1625599" cy="6096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vMix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/ </a:t>
              </a:r>
              <a:r>
                <a:rPr lang="en-US" altLang="zh-CN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XSplit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415CE061-4C37-4E64-E399-7099AFBD5016}"/>
              </a:ext>
            </a:extLst>
          </p:cNvPr>
          <p:cNvGrpSpPr/>
          <p:nvPr/>
        </p:nvGrpSpPr>
        <p:grpSpPr>
          <a:xfrm>
            <a:off x="9276683" y="1364875"/>
            <a:ext cx="2526503" cy="2273170"/>
            <a:chOff x="182734" y="1337294"/>
            <a:chExt cx="2708236" cy="2273170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E045833-5C73-D1B6-A8DA-9FE2AB66D8F1}"/>
                </a:ext>
              </a:extLst>
            </p:cNvPr>
            <p:cNvSpPr/>
            <p:nvPr/>
          </p:nvSpPr>
          <p:spPr>
            <a:xfrm>
              <a:off x="182734" y="2285293"/>
              <a:ext cx="2708236" cy="132517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基于云端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AI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抠图，依赖网络，</a:t>
              </a:r>
              <a:r>
                <a:rPr lang="zh-CN" altLang="en-US" sz="16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延迟较高</a:t>
              </a: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12522EEE-2F74-CFE6-EEAA-3EEE9893ECE3}"/>
                </a:ext>
              </a:extLst>
            </p:cNvPr>
            <p:cNvSpPr/>
            <p:nvPr/>
          </p:nvSpPr>
          <p:spPr>
            <a:xfrm>
              <a:off x="315112" y="1337294"/>
              <a:ext cx="2443480" cy="72972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zh-CN" sz="1600" b="1" dirty="0"/>
                <a:t>腾讯会议/钉钉虚拟背景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4672DDE1-4E47-2E38-CC07-242CAEA3C866}"/>
              </a:ext>
            </a:extLst>
          </p:cNvPr>
          <p:cNvCxnSpPr>
            <a:cxnSpLocks/>
            <a:stCxn id="8" idx="4"/>
            <a:endCxn id="6" idx="0"/>
          </p:cNvCxnSpPr>
          <p:nvPr/>
        </p:nvCxnSpPr>
        <p:spPr>
          <a:xfrm>
            <a:off x="7899922" y="2098356"/>
            <a:ext cx="0" cy="2182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6F03EEC2-1F93-3235-784F-B5AD5682FDC7}"/>
              </a:ext>
            </a:extLst>
          </p:cNvPr>
          <p:cNvCxnSpPr>
            <a:endCxn id="25" idx="0"/>
          </p:cNvCxnSpPr>
          <p:nvPr/>
        </p:nvCxnSpPr>
        <p:spPr>
          <a:xfrm>
            <a:off x="10539934" y="2094602"/>
            <a:ext cx="1" cy="2182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椭圆 34">
            <a:extLst>
              <a:ext uri="{FF2B5EF4-FFF2-40B4-BE49-F238E27FC236}">
                <a16:creationId xmlns:a16="http://schemas.microsoft.com/office/drawing/2014/main" id="{4EC36C18-2CD9-84AB-ADC9-401C499B08DC}"/>
              </a:ext>
            </a:extLst>
          </p:cNvPr>
          <p:cNvSpPr/>
          <p:nvPr/>
        </p:nvSpPr>
        <p:spPr>
          <a:xfrm>
            <a:off x="405111" y="3830680"/>
            <a:ext cx="5401568" cy="145820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EE26E317-5FC6-E62C-15E1-6357FB0C212F}"/>
              </a:ext>
            </a:extLst>
          </p:cNvPr>
          <p:cNvSpPr/>
          <p:nvPr/>
        </p:nvSpPr>
        <p:spPr>
          <a:xfrm>
            <a:off x="405111" y="5382832"/>
            <a:ext cx="5401568" cy="145820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82772A43-4686-4D16-322B-02FBBA27AA96}"/>
              </a:ext>
            </a:extLst>
          </p:cNvPr>
          <p:cNvSpPr/>
          <p:nvPr/>
        </p:nvSpPr>
        <p:spPr>
          <a:xfrm>
            <a:off x="6710770" y="4730149"/>
            <a:ext cx="5396154" cy="1380776"/>
          </a:xfrm>
          <a:prstGeom prst="ellipse">
            <a:avLst/>
          </a:prstGeom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zh-CN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OpenCV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为核心，结合</a:t>
            </a:r>
            <a:r>
              <a:rPr lang="zh-CN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HSV颜色空间阈值分割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实现实时抠图，同时预留深度学习模型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Agent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接口，兼顾实时性与精度</a:t>
            </a:r>
            <a:endParaRPr lang="zh-CN" altLang="en-US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756BBC9-810F-492A-8066-D40358AC46D3}"/>
              </a:ext>
            </a:extLst>
          </p:cNvPr>
          <p:cNvSpPr/>
          <p:nvPr/>
        </p:nvSpPr>
        <p:spPr>
          <a:xfrm>
            <a:off x="2239829" y="3916105"/>
            <a:ext cx="1732132" cy="3681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b="1" dirty="0"/>
              <a:t>传统方法</a:t>
            </a:r>
            <a:endParaRPr lang="zh-CN" altLang="en-US" b="1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261E3DC-5345-05B5-B4B0-EBA96DD92A4D}"/>
              </a:ext>
            </a:extLst>
          </p:cNvPr>
          <p:cNvSpPr/>
          <p:nvPr/>
        </p:nvSpPr>
        <p:spPr>
          <a:xfrm>
            <a:off x="2197157" y="5479458"/>
            <a:ext cx="1732132" cy="3681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b="1" dirty="0"/>
              <a:t>深度学习方法</a:t>
            </a:r>
            <a:endParaRPr lang="zh-CN" altLang="en-US" b="1" dirty="0"/>
          </a:p>
        </p:txBody>
      </p:sp>
      <p:sp>
        <p:nvSpPr>
          <p:cNvPr id="44" name="箭头: 下 43">
            <a:extLst>
              <a:ext uri="{FF2B5EF4-FFF2-40B4-BE49-F238E27FC236}">
                <a16:creationId xmlns:a16="http://schemas.microsoft.com/office/drawing/2014/main" id="{AEB4286D-2C50-EB3E-F435-41D6F0AA81CD}"/>
              </a:ext>
            </a:extLst>
          </p:cNvPr>
          <p:cNvSpPr/>
          <p:nvPr/>
        </p:nvSpPr>
        <p:spPr>
          <a:xfrm rot="13500000">
            <a:off x="5996809" y="5432615"/>
            <a:ext cx="541749" cy="1002345"/>
          </a:xfrm>
          <a:prstGeom prst="downArrow">
            <a:avLst>
              <a:gd name="adj1" fmla="val 41909"/>
              <a:gd name="adj2" fmla="val 3559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下 45">
            <a:extLst>
              <a:ext uri="{FF2B5EF4-FFF2-40B4-BE49-F238E27FC236}">
                <a16:creationId xmlns:a16="http://schemas.microsoft.com/office/drawing/2014/main" id="{7D460A11-E434-844A-285C-2427FEA8128D}"/>
              </a:ext>
            </a:extLst>
          </p:cNvPr>
          <p:cNvSpPr/>
          <p:nvPr/>
        </p:nvSpPr>
        <p:spPr>
          <a:xfrm rot="18900000">
            <a:off x="6031443" y="4373444"/>
            <a:ext cx="541749" cy="1002345"/>
          </a:xfrm>
          <a:prstGeom prst="downArrow">
            <a:avLst>
              <a:gd name="adj1" fmla="val 41909"/>
              <a:gd name="adj2" fmla="val 3559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755ADA1-EBB3-83BB-8CBD-55182A6E539E}"/>
              </a:ext>
            </a:extLst>
          </p:cNvPr>
          <p:cNvSpPr txBox="1"/>
          <p:nvPr/>
        </p:nvSpPr>
        <p:spPr>
          <a:xfrm>
            <a:off x="1250327" y="4308435"/>
            <a:ext cx="39462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zh-CN" sz="16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基于颜色空间（HSV/RGB阈值）的色键抠图 </a:t>
            </a:r>
            <a:endParaRPr lang="en-US" altLang="zh-CN" sz="1600" i="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zh-CN" sz="16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实时性好但</a:t>
            </a:r>
            <a:r>
              <a:rPr lang="zh-CN" altLang="zh-CN" sz="160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精度有限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11BB641-501D-B282-522C-1D40DB561A1F}"/>
              </a:ext>
            </a:extLst>
          </p:cNvPr>
          <p:cNvSpPr txBox="1"/>
          <p:nvPr/>
        </p:nvSpPr>
        <p:spPr>
          <a:xfrm>
            <a:off x="1243195" y="5863319"/>
            <a:ext cx="39462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基于</a:t>
            </a:r>
            <a:r>
              <a:rPr lang="en-US" altLang="zh-CN" sz="16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Segment Anything Model (SAM)</a:t>
            </a:r>
            <a:r>
              <a:rPr lang="zh-CN" altLang="en-US" sz="16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60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MediaPipe</a:t>
            </a:r>
            <a:r>
              <a:rPr lang="zh-CN" altLang="en-US" sz="16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等语义分割模型 </a:t>
            </a:r>
            <a:endParaRPr lang="en-US" altLang="zh-CN" sz="1600" i="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精度高但</a:t>
            </a:r>
            <a:r>
              <a:rPr lang="zh-CN" altLang="en-US" sz="160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计算量大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75363A72-6592-294A-70F4-B765245C4F67}"/>
              </a:ext>
            </a:extLst>
          </p:cNvPr>
          <p:cNvSpPr/>
          <p:nvPr/>
        </p:nvSpPr>
        <p:spPr>
          <a:xfrm>
            <a:off x="5751871" y="1961864"/>
            <a:ext cx="688258" cy="6990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57AA3C0-F2CE-DA28-F0F6-55BF2E3D4C0F}"/>
              </a:ext>
            </a:extLst>
          </p:cNvPr>
          <p:cNvSpPr txBox="1"/>
          <p:nvPr/>
        </p:nvSpPr>
        <p:spPr>
          <a:xfrm>
            <a:off x="168304" y="70601"/>
            <a:ext cx="6096000" cy="3361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 b="1" i="0">
                <a:solidFill>
                  <a:schemeClr val="accent1"/>
                </a:solidFill>
                <a:effectLst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国内外研究现状与同类产品调研</a:t>
            </a:r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9B28A86B-FB3F-3557-BC0D-18C3C516F4E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4969" y="93679"/>
            <a:ext cx="1685135" cy="52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791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95CFA81-36D6-6259-305F-93C1DF5310A5}"/>
              </a:ext>
            </a:extLst>
          </p:cNvPr>
          <p:cNvSpPr/>
          <p:nvPr/>
        </p:nvSpPr>
        <p:spPr>
          <a:xfrm>
            <a:off x="185192" y="798652"/>
            <a:ext cx="11609412" cy="8333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基于</a:t>
            </a:r>
            <a:r>
              <a:rPr lang="zh-CN" altLang="zh-CN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Python+OpenCV</a:t>
            </a:r>
            <a:r>
              <a:rPr lang="zh-CN" altLang="zh-CN" sz="2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的智能演播室图像合成系统</a:t>
            </a:r>
            <a:r>
              <a:rPr lang="zh-CN" altLang="en-US" sz="2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sz="2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能够实时完成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绿幕抠图</a:t>
            </a:r>
            <a:r>
              <a:rPr lang="zh-CN" altLang="zh-CN" sz="2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背景叠加</a:t>
            </a:r>
            <a:r>
              <a:rPr lang="zh-CN" altLang="zh-CN" sz="20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视频特效添加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0E284A7-A088-1BED-9B3F-6B83C47942BC}"/>
              </a:ext>
            </a:extLst>
          </p:cNvPr>
          <p:cNvSpPr/>
          <p:nvPr/>
        </p:nvSpPr>
        <p:spPr>
          <a:xfrm>
            <a:off x="3912241" y="526649"/>
            <a:ext cx="4155312" cy="526649"/>
          </a:xfrm>
          <a:prstGeom prst="ellipse">
            <a:avLst/>
          </a:prstGeom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b="1" dirty="0">
                <a:solidFill>
                  <a:srgbClr val="FFFF00"/>
                </a:solidFill>
              </a:rPr>
              <a:t>核心目标</a:t>
            </a:r>
            <a:endParaRPr lang="zh-CN" altLang="en-US" sz="2400" dirty="0">
              <a:solidFill>
                <a:srgbClr val="FFFF00"/>
              </a:solidFill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CE45E07-B576-8243-F19F-B78C4C27C9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036956"/>
              </p:ext>
            </p:extLst>
          </p:nvPr>
        </p:nvGraphicFramePr>
        <p:xfrm>
          <a:off x="335663" y="2045908"/>
          <a:ext cx="11609412" cy="1981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2071">
                  <a:extLst>
                    <a:ext uri="{9D8B030D-6E8A-4147-A177-3AD203B41FA5}">
                      <a16:colId xmlns:a16="http://schemas.microsoft.com/office/drawing/2014/main" val="3762389793"/>
                    </a:ext>
                  </a:extLst>
                </a:gridCol>
                <a:gridCol w="9097341">
                  <a:extLst>
                    <a:ext uri="{9D8B030D-6E8A-4147-A177-3AD203B41FA5}">
                      <a16:colId xmlns:a16="http://schemas.microsoft.com/office/drawing/2014/main" val="6793768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功能模块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功能描述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420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实时抠图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对摄像头或视频流中的绿色/蓝色幕布进行实时像素级抠除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7622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背景叠加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支持静态图片、视频、动态素材作为替换背景，实现前景人物与背景的无缝合成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664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特效添加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提供滤镜（模糊、边缘检测、色彩调整）、画中画、文字叠加、边框装饰等特效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3149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实时预览与录制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合成结果实时显示，并支持录制输出为视频文件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354871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70515211-6532-BDF9-086F-59CA4F680354}"/>
              </a:ext>
            </a:extLst>
          </p:cNvPr>
          <p:cNvSpPr/>
          <p:nvPr/>
        </p:nvSpPr>
        <p:spPr>
          <a:xfrm>
            <a:off x="57875" y="5233589"/>
            <a:ext cx="3773347" cy="10977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处理帧率 ≥ 15 FPS（720p分辨率下）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0816EF-2A83-7328-9B69-259A291C6293}"/>
              </a:ext>
            </a:extLst>
          </p:cNvPr>
          <p:cNvSpPr/>
          <p:nvPr/>
        </p:nvSpPr>
        <p:spPr>
          <a:xfrm>
            <a:off x="8360778" y="5233589"/>
            <a:ext cx="3773347" cy="10977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支持自定义绿幕色域范围，适应不同光照条件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660AE0-42E4-CAE0-28A1-30677B491DC7}"/>
              </a:ext>
            </a:extLst>
          </p:cNvPr>
          <p:cNvSpPr/>
          <p:nvPr/>
        </p:nvSpPr>
        <p:spPr>
          <a:xfrm>
            <a:off x="4209327" y="5233589"/>
            <a:ext cx="3773347" cy="10977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抠图边缘过渡自然，无明显色溢或锯齿</a:t>
            </a:r>
          </a:p>
        </p:txBody>
      </p:sp>
      <p:sp>
        <p:nvSpPr>
          <p:cNvPr id="15" name="菱形 14">
            <a:extLst>
              <a:ext uri="{FF2B5EF4-FFF2-40B4-BE49-F238E27FC236}">
                <a16:creationId xmlns:a16="http://schemas.microsoft.com/office/drawing/2014/main" id="{3516B55D-4EDD-DAA7-43A2-62B9CB7D8640}"/>
              </a:ext>
            </a:extLst>
          </p:cNvPr>
          <p:cNvSpPr/>
          <p:nvPr/>
        </p:nvSpPr>
        <p:spPr>
          <a:xfrm>
            <a:off x="4087793" y="4189319"/>
            <a:ext cx="4016415" cy="752719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b="1" dirty="0">
                <a:solidFill>
                  <a:srgbClr val="FFFF00"/>
                </a:solidFill>
              </a:rPr>
              <a:t>技术指标</a:t>
            </a:r>
            <a:endParaRPr lang="zh-CN" altLang="en-US" sz="2400" dirty="0">
              <a:solidFill>
                <a:srgbClr val="FFFF00"/>
              </a:solidFill>
            </a:endParaRPr>
          </a:p>
        </p:txBody>
      </p: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32EAD9D4-0C00-4DC3-B966-B09A5F3690BB}"/>
              </a:ext>
            </a:extLst>
          </p:cNvPr>
          <p:cNvCxnSpPr>
            <a:stCxn id="15" idx="1"/>
            <a:endCxn id="6" idx="0"/>
          </p:cNvCxnSpPr>
          <p:nvPr/>
        </p:nvCxnSpPr>
        <p:spPr>
          <a:xfrm rot="10800000" flipV="1">
            <a:off x="1944549" y="4565679"/>
            <a:ext cx="2143244" cy="667910"/>
          </a:xfrm>
          <a:prstGeom prst="bentConnector2">
            <a:avLst/>
          </a:prstGeom>
          <a:ln w="57150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7F8DAF5-5959-82DC-2083-217FBA3DF9E2}"/>
              </a:ext>
            </a:extLst>
          </p:cNvPr>
          <p:cNvCxnSpPr>
            <a:stCxn id="15" idx="2"/>
            <a:endCxn id="13" idx="0"/>
          </p:cNvCxnSpPr>
          <p:nvPr/>
        </p:nvCxnSpPr>
        <p:spPr>
          <a:xfrm>
            <a:off x="6096001" y="4942038"/>
            <a:ext cx="0" cy="291551"/>
          </a:xfrm>
          <a:prstGeom prst="line">
            <a:avLst/>
          </a:prstGeom>
          <a:ln w="57150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A84F6085-2DDB-C9B6-8432-1AD9C33F3FEB}"/>
              </a:ext>
            </a:extLst>
          </p:cNvPr>
          <p:cNvCxnSpPr>
            <a:stCxn id="15" idx="3"/>
            <a:endCxn id="10" idx="0"/>
          </p:cNvCxnSpPr>
          <p:nvPr/>
        </p:nvCxnSpPr>
        <p:spPr>
          <a:xfrm>
            <a:off x="8104208" y="4565679"/>
            <a:ext cx="2143244" cy="667910"/>
          </a:xfrm>
          <a:prstGeom prst="bentConnector2">
            <a:avLst/>
          </a:prstGeom>
          <a:ln w="57150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DDD08E55-7382-8CAE-DD46-CEB73C499751}"/>
              </a:ext>
            </a:extLst>
          </p:cNvPr>
          <p:cNvSpPr txBox="1"/>
          <p:nvPr/>
        </p:nvSpPr>
        <p:spPr>
          <a:xfrm>
            <a:off x="185192" y="140599"/>
            <a:ext cx="6096000" cy="3361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 b="1" i="0">
                <a:solidFill>
                  <a:schemeClr val="accent1"/>
                </a:solidFill>
                <a:effectLst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设计目标与功能定义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1B84B4BC-826D-7276-A2C4-4040CB95B91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4969" y="93679"/>
            <a:ext cx="1685135" cy="52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561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3205BEA8-CAF0-DF07-E3C9-5342EB796E81}"/>
              </a:ext>
            </a:extLst>
          </p:cNvPr>
          <p:cNvSpPr/>
          <p:nvPr/>
        </p:nvSpPr>
        <p:spPr>
          <a:xfrm>
            <a:off x="370390" y="610462"/>
            <a:ext cx="4004840" cy="591765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D5F101-1FEB-8125-8C5D-C430CB2DFEF7}"/>
              </a:ext>
            </a:extLst>
          </p:cNvPr>
          <p:cNvSpPr/>
          <p:nvPr/>
        </p:nvSpPr>
        <p:spPr>
          <a:xfrm>
            <a:off x="937549" y="1701477"/>
            <a:ext cx="2870522" cy="856526"/>
          </a:xfrm>
          <a:prstGeom prst="rect">
            <a:avLst/>
          </a:prstGeom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3200" b="1" dirty="0">
                <a:solidFill>
                  <a:srgbClr val="FFFF00"/>
                </a:solidFill>
              </a:rPr>
              <a:t>感知</a:t>
            </a:r>
            <a:endParaRPr lang="zh-CN" altLang="en-US" sz="3200" b="1" dirty="0">
              <a:solidFill>
                <a:srgbClr val="FFFF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AFEB808-67A5-BE0F-1763-262A29A81121}"/>
              </a:ext>
            </a:extLst>
          </p:cNvPr>
          <p:cNvSpPr/>
          <p:nvPr/>
        </p:nvSpPr>
        <p:spPr>
          <a:xfrm>
            <a:off x="937549" y="3126128"/>
            <a:ext cx="2870522" cy="85652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rgbClr val="FFFF00"/>
                </a:solidFill>
              </a:rPr>
              <a:t>决策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6BA6BC-F460-484B-A7C8-5172798C23A0}"/>
              </a:ext>
            </a:extLst>
          </p:cNvPr>
          <p:cNvSpPr/>
          <p:nvPr/>
        </p:nvSpPr>
        <p:spPr>
          <a:xfrm>
            <a:off x="937549" y="4550779"/>
            <a:ext cx="2870522" cy="856526"/>
          </a:xfrm>
          <a:prstGeom prst="rect">
            <a:avLst/>
          </a:prstGeom>
          <a:solidFill>
            <a:schemeClr val="accent5">
              <a:lumMod val="5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rgbClr val="FFFF00"/>
                </a:solidFill>
              </a:rPr>
              <a:t>执行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5C039D-F97A-1662-B002-2104F3B29F42}"/>
              </a:ext>
            </a:extLst>
          </p:cNvPr>
          <p:cNvSpPr txBox="1"/>
          <p:nvPr/>
        </p:nvSpPr>
        <p:spPr>
          <a:xfrm>
            <a:off x="405115" y="87242"/>
            <a:ext cx="35881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i="0" dirty="0">
                <a:solidFill>
                  <a:schemeClr val="accent1"/>
                </a:solidFill>
                <a:effectLst/>
                <a:latin typeface="+mn-lt"/>
                <a:ea typeface="Microsoft YaHei" panose="020B0503020204020204" pitchFamily="34" charset="-122"/>
              </a:rPr>
              <a:t>总体方案</a:t>
            </a:r>
            <a:endParaRPr lang="zh-CN" altLang="en-US" sz="2800" dirty="0">
              <a:solidFill>
                <a:schemeClr val="accent1"/>
              </a:solidFill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AD7670D-7A2C-4211-14E8-53220450DC31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2372810" y="2558003"/>
            <a:ext cx="0" cy="56812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2554BFD-CDFF-F9D5-8133-371DD29CD99A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2372810" y="3982654"/>
            <a:ext cx="0" cy="56812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E69207C-D0DB-7447-FC1C-C523E440FEF6}"/>
              </a:ext>
            </a:extLst>
          </p:cNvPr>
          <p:cNvSpPr/>
          <p:nvPr/>
        </p:nvSpPr>
        <p:spPr>
          <a:xfrm>
            <a:off x="4664597" y="694481"/>
            <a:ext cx="6511403" cy="5752617"/>
          </a:xfrm>
          <a:prstGeom prst="roundRect">
            <a:avLst>
              <a:gd name="adj" fmla="val 689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5A46F32-3BE1-5512-C409-789F20B90212}"/>
              </a:ext>
            </a:extLst>
          </p:cNvPr>
          <p:cNvSpPr/>
          <p:nvPr/>
        </p:nvSpPr>
        <p:spPr>
          <a:xfrm>
            <a:off x="5956332" y="1168399"/>
            <a:ext cx="5034987" cy="48227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视频采集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B8C7457-E047-109D-E6A2-111A0F4D57EE}"/>
              </a:ext>
            </a:extLst>
          </p:cNvPr>
          <p:cNvSpPr/>
          <p:nvPr/>
        </p:nvSpPr>
        <p:spPr>
          <a:xfrm>
            <a:off x="5956332" y="1948581"/>
            <a:ext cx="5034987" cy="48227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CV算法预处理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0274CED-55A1-525C-9776-F9E97F81784E}"/>
              </a:ext>
            </a:extLst>
          </p:cNvPr>
          <p:cNvSpPr/>
          <p:nvPr/>
        </p:nvSpPr>
        <p:spPr>
          <a:xfrm>
            <a:off x="5956332" y="2728763"/>
            <a:ext cx="5034987" cy="48227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深度学习抠图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65759D5-FC7D-8152-CB9D-853FCEA06BCB}"/>
              </a:ext>
            </a:extLst>
          </p:cNvPr>
          <p:cNvSpPr/>
          <p:nvPr/>
        </p:nvSpPr>
        <p:spPr>
          <a:xfrm>
            <a:off x="5956332" y="4289127"/>
            <a:ext cx="5034987" cy="48227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背景混合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8D0EAE7-6600-AB17-71FA-8E3179B92BBB}"/>
              </a:ext>
            </a:extLst>
          </p:cNvPr>
          <p:cNvSpPr/>
          <p:nvPr/>
        </p:nvSpPr>
        <p:spPr>
          <a:xfrm>
            <a:off x="5956332" y="5069309"/>
            <a:ext cx="5034987" cy="48227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特效处理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ADB218-F5A8-02D4-3D29-EE9E6AC28789}"/>
              </a:ext>
            </a:extLst>
          </p:cNvPr>
          <p:cNvSpPr/>
          <p:nvPr/>
        </p:nvSpPr>
        <p:spPr>
          <a:xfrm>
            <a:off x="5956332" y="3508945"/>
            <a:ext cx="5034987" cy="48227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Agent智能调度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782F97A-057E-522A-A7C0-3E2E416E35A0}"/>
              </a:ext>
            </a:extLst>
          </p:cNvPr>
          <p:cNvSpPr/>
          <p:nvPr/>
        </p:nvSpPr>
        <p:spPr>
          <a:xfrm>
            <a:off x="5956332" y="5849493"/>
            <a:ext cx="5034987" cy="48227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输出显示/录制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5CBABD03-2395-8EAD-40C1-9D00A90C92F7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8473826" y="1650676"/>
            <a:ext cx="0" cy="29790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C590A42F-2F21-4DD3-6526-73A0ADA759B1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8473826" y="2430858"/>
            <a:ext cx="9774" cy="29790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0BFB6DC2-C05E-0926-513F-0DD080F0419C}"/>
              </a:ext>
            </a:extLst>
          </p:cNvPr>
          <p:cNvCxnSpPr>
            <a:cxnSpLocks/>
            <a:stCxn id="21" idx="2"/>
            <a:endCxn id="26" idx="0"/>
          </p:cNvCxnSpPr>
          <p:nvPr/>
        </p:nvCxnSpPr>
        <p:spPr>
          <a:xfrm>
            <a:off x="8473826" y="3211040"/>
            <a:ext cx="0" cy="29790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B2247D3D-7605-0B3C-F668-5B97BAB113C1}"/>
              </a:ext>
            </a:extLst>
          </p:cNvPr>
          <p:cNvCxnSpPr>
            <a:stCxn id="26" idx="2"/>
          </p:cNvCxnSpPr>
          <p:nvPr/>
        </p:nvCxnSpPr>
        <p:spPr>
          <a:xfrm>
            <a:off x="8473826" y="3991222"/>
            <a:ext cx="0" cy="29790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8489200F-FFA6-3C0C-2A92-8930802609D1}"/>
              </a:ext>
            </a:extLst>
          </p:cNvPr>
          <p:cNvCxnSpPr>
            <a:endCxn id="24" idx="0"/>
          </p:cNvCxnSpPr>
          <p:nvPr/>
        </p:nvCxnSpPr>
        <p:spPr>
          <a:xfrm>
            <a:off x="8473826" y="4771404"/>
            <a:ext cx="0" cy="29790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2FDB20BC-4EFF-8199-69D3-7D1C55E7ADA5}"/>
              </a:ext>
            </a:extLst>
          </p:cNvPr>
          <p:cNvCxnSpPr>
            <a:endCxn id="28" idx="0"/>
          </p:cNvCxnSpPr>
          <p:nvPr/>
        </p:nvCxnSpPr>
        <p:spPr>
          <a:xfrm>
            <a:off x="8473826" y="5551586"/>
            <a:ext cx="0" cy="29790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箭头: 下 48">
            <a:extLst>
              <a:ext uri="{FF2B5EF4-FFF2-40B4-BE49-F238E27FC236}">
                <a16:creationId xmlns:a16="http://schemas.microsoft.com/office/drawing/2014/main" id="{5AB96E93-4E3A-0A8D-A258-2A584F72227B}"/>
              </a:ext>
            </a:extLst>
          </p:cNvPr>
          <p:cNvSpPr/>
          <p:nvPr/>
        </p:nvSpPr>
        <p:spPr>
          <a:xfrm>
            <a:off x="4988560" y="1087120"/>
            <a:ext cx="821931" cy="520192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2400" b="1" dirty="0">
                <a:solidFill>
                  <a:srgbClr val="FFFF00"/>
                </a:solidFill>
              </a:rPr>
              <a:t>数    据    流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0913EE6-15CC-1F1E-3EFC-32468F448AD9}"/>
              </a:ext>
            </a:extLst>
          </p:cNvPr>
          <p:cNvSpPr txBox="1"/>
          <p:nvPr/>
        </p:nvSpPr>
        <p:spPr>
          <a:xfrm>
            <a:off x="1664924" y="85628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系统架构</a:t>
            </a: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222AF250-8C61-317D-A4B2-2F40BFE0594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4969" y="93679"/>
            <a:ext cx="1685135" cy="52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437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D359E82-0C7C-5A7D-AB4B-CD890574B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302224"/>
              </p:ext>
            </p:extLst>
          </p:nvPr>
        </p:nvGraphicFramePr>
        <p:xfrm>
          <a:off x="405115" y="646339"/>
          <a:ext cx="11493660" cy="57452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94184">
                  <a:extLst>
                    <a:ext uri="{9D8B030D-6E8A-4147-A177-3AD203B41FA5}">
                      <a16:colId xmlns:a16="http://schemas.microsoft.com/office/drawing/2014/main" val="2569975131"/>
                    </a:ext>
                  </a:extLst>
                </a:gridCol>
                <a:gridCol w="5568256">
                  <a:extLst>
                    <a:ext uri="{9D8B030D-6E8A-4147-A177-3AD203B41FA5}">
                      <a16:colId xmlns:a16="http://schemas.microsoft.com/office/drawing/2014/main" val="2070344884"/>
                    </a:ext>
                  </a:extLst>
                </a:gridCol>
                <a:gridCol w="3831220">
                  <a:extLst>
                    <a:ext uri="{9D8B030D-6E8A-4147-A177-3AD203B41FA5}">
                      <a16:colId xmlns:a16="http://schemas.microsoft.com/office/drawing/2014/main" val="2595527946"/>
                    </a:ext>
                  </a:extLst>
                </a:gridCol>
              </a:tblGrid>
              <a:tr h="376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000" b="1">
                          <a:solidFill>
                            <a:schemeClr val="bg1"/>
                          </a:solidFill>
                          <a:latin typeface="+mn-lt"/>
                        </a:rPr>
                        <a:t>模块</a:t>
                      </a:r>
                    </a:p>
                  </a:txBody>
                  <a:tcPr marL="48891" marR="48891" marT="24446" marB="2444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000" b="1">
                          <a:solidFill>
                            <a:schemeClr val="bg1"/>
                          </a:solidFill>
                          <a:latin typeface="+mn-lt"/>
                        </a:rPr>
                        <a:t>功能描述</a:t>
                      </a:r>
                    </a:p>
                  </a:txBody>
                  <a:tcPr marL="48891" marR="48891" marT="24446" marB="24446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核心技术</a:t>
                      </a:r>
                    </a:p>
                  </a:txBody>
                  <a:tcPr marL="48891" marR="48891" marT="24446" marB="24446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338587"/>
                  </a:ext>
                </a:extLst>
              </a:tr>
              <a:tr h="636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视频采集模块</a:t>
                      </a: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调用OpenCV的VideoCapture，读取摄像头或视频文件，支持多路输入</a:t>
                      </a: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OpenCV、FFmpeg</a:t>
                      </a:r>
                    </a:p>
                  </a:txBody>
                  <a:tcPr marL="48891" marR="48891" marT="24446" marB="24446" anchor="ctr"/>
                </a:tc>
                <a:extLst>
                  <a:ext uri="{0D108BD9-81ED-4DB2-BD59-A6C34878D82A}">
                    <a16:rowId xmlns:a16="http://schemas.microsoft.com/office/drawing/2014/main" val="3908793951"/>
                  </a:ext>
                </a:extLst>
              </a:tr>
              <a:tr h="676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CV算法预处理模块</a:t>
                      </a:r>
                    </a:p>
                  </a:txBody>
                  <a:tcPr marL="48891" marR="48891" marT="24446" marB="24446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颜色空间转换（BGR→HSV）、高斯模糊去噪、形态学操作（膨胀/腐蚀/开运算）、边缘检测（Canny）</a:t>
                      </a:r>
                    </a:p>
                  </a:txBody>
                  <a:tcPr marL="48891" marR="48891" marT="24446" marB="24446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OpenCV传统CV算法</a:t>
                      </a:r>
                    </a:p>
                  </a:txBody>
                  <a:tcPr marL="48891" marR="48891" marT="24446" marB="24446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710819"/>
                  </a:ext>
                </a:extLst>
              </a:tr>
              <a:tr h="928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深度学习抠图模块</a:t>
                      </a: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基于语义分割模型（如MediaPipe Selfie Segmentation、SAM）实现高精度前景提取，支持有绿幕和无绿幕两种模式</a:t>
                      </a: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PyTorch、ONNX Runtime</a:t>
                      </a:r>
                    </a:p>
                  </a:txBody>
                  <a:tcPr marL="48891" marR="48891" marT="24446" marB="24446" anchor="ctr"/>
                </a:tc>
                <a:extLst>
                  <a:ext uri="{0D108BD9-81ED-4DB2-BD59-A6C34878D82A}">
                    <a16:rowId xmlns:a16="http://schemas.microsoft.com/office/drawing/2014/main" val="2666759253"/>
                  </a:ext>
                </a:extLst>
              </a:tr>
              <a:tr h="12200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Agent智能调度模块</a:t>
                      </a:r>
                    </a:p>
                  </a:txBody>
                  <a:tcPr marL="48891" marR="48891" marT="24446" marB="24446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基于AI Agent架构，自动感知环境光照变化并动态调整HSV阈值参数；根据场景类型自动切换抠图策略（色键模式/深度学习模式）；实现特效参数的智能推荐与一键切换</a:t>
                      </a:r>
                    </a:p>
                  </a:txBody>
                  <a:tcPr marL="48891" marR="48891" marT="24446" marB="24446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规则引擎 + LLM驱动的Agent框架（如AutoGen/LangChain）</a:t>
                      </a:r>
                    </a:p>
                  </a:txBody>
                  <a:tcPr marL="48891" marR="48891" marT="24446" marB="24446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228625"/>
                  </a:ext>
                </a:extLst>
              </a:tr>
              <a:tr h="636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背景混合模块</a:t>
                      </a: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前景掩膜与背景图像按像素级Alpha混合，处理前景与背景交界处，避免硬边缘</a:t>
                      </a: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Alpha Blending、泊松融合</a:t>
                      </a:r>
                    </a:p>
                  </a:txBody>
                  <a:tcPr marL="48891" marR="48891" marT="24446" marB="24446" anchor="ctr"/>
                </a:tc>
                <a:extLst>
                  <a:ext uri="{0D108BD9-81ED-4DB2-BD59-A6C34878D82A}">
                    <a16:rowId xmlns:a16="http://schemas.microsoft.com/office/drawing/2014/main" val="302808467"/>
                  </a:ext>
                </a:extLst>
              </a:tr>
              <a:tr h="636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特效处理模块</a:t>
                      </a:r>
                    </a:p>
                  </a:txBody>
                  <a:tcPr marL="48891" marR="48891" marT="24446" marB="24446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滤镜（模糊、边缘检测、色彩调整）、画中画、文字叠加、边框装饰等</a:t>
                      </a:r>
                    </a:p>
                  </a:txBody>
                  <a:tcPr marL="48891" marR="48891" marT="24446" marB="24446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OpenCV图像处理函数</a:t>
                      </a:r>
                    </a:p>
                  </a:txBody>
                  <a:tcPr marL="48891" marR="48891" marT="24446" marB="24446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625698"/>
                  </a:ext>
                </a:extLst>
              </a:tr>
              <a:tr h="636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GUI与输出模块</a:t>
                      </a: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PyQt/OpenCV HighGUI实现交互界面，VideoWriter录制输出为视频文件</a:t>
                      </a: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PyQt5、OpenCV VideoWriter</a:t>
                      </a:r>
                    </a:p>
                  </a:txBody>
                  <a:tcPr marL="48891" marR="48891" marT="24446" marB="24446" anchor="ctr"/>
                </a:tc>
                <a:extLst>
                  <a:ext uri="{0D108BD9-81ED-4DB2-BD59-A6C34878D82A}">
                    <a16:rowId xmlns:a16="http://schemas.microsoft.com/office/drawing/2014/main" val="695095385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96D1F05-0D09-5527-A841-B1F96F51305D}"/>
              </a:ext>
            </a:extLst>
          </p:cNvPr>
          <p:cNvSpPr txBox="1"/>
          <p:nvPr/>
        </p:nvSpPr>
        <p:spPr>
          <a:xfrm>
            <a:off x="405115" y="87242"/>
            <a:ext cx="35881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i="0" dirty="0">
                <a:solidFill>
                  <a:schemeClr val="accent1"/>
                </a:solidFill>
                <a:effectLst/>
                <a:latin typeface="+mn-lt"/>
                <a:ea typeface="Microsoft YaHei" panose="020B0503020204020204" pitchFamily="34" charset="-122"/>
              </a:rPr>
              <a:t>功能模块分解</a:t>
            </a:r>
            <a:endParaRPr lang="zh-CN" altLang="en-US" sz="2800" dirty="0">
              <a:solidFill>
                <a:schemeClr val="accent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552089-8E4F-736C-E0F9-0C299421298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4969" y="93679"/>
            <a:ext cx="1685135" cy="52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811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E6EB94F-72D3-7145-48EB-276A47C74E5E}"/>
              </a:ext>
            </a:extLst>
          </p:cNvPr>
          <p:cNvSpPr txBox="1"/>
          <p:nvPr/>
        </p:nvSpPr>
        <p:spPr>
          <a:xfrm>
            <a:off x="419583" y="817470"/>
            <a:ext cx="11351870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zh-CN" sz="20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系统采用</a:t>
            </a:r>
            <a:r>
              <a:rPr lang="zh-CN" altLang="en-US" sz="20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传统CV + 深度学习 + Agent调度</a:t>
            </a:r>
            <a:r>
              <a:rPr lang="zh-CN" altLang="en-US" sz="20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三层融合架构：传统色键算法保障低延迟实时性，深度学习语义分割兜底复杂场景精度，AI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Agent作为中枢实现环境感知、策略自适应切换与自然语言交互控制，三者协同构建智能演播室的核心技术闭环。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4ECC9D-2AD2-9970-90AD-93E34C18318C}"/>
              </a:ext>
            </a:extLst>
          </p:cNvPr>
          <p:cNvSpPr txBox="1"/>
          <p:nvPr/>
        </p:nvSpPr>
        <p:spPr>
          <a:xfrm>
            <a:off x="405115" y="87242"/>
            <a:ext cx="35881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i="0" dirty="0">
                <a:solidFill>
                  <a:schemeClr val="accent1"/>
                </a:solidFill>
                <a:effectLst/>
                <a:latin typeface="+mn-lt"/>
                <a:ea typeface="Microsoft YaHei" panose="020B0503020204020204" pitchFamily="34" charset="-122"/>
              </a:rPr>
              <a:t>关键技术方案</a:t>
            </a:r>
            <a:endParaRPr lang="zh-CN" altLang="en-US" sz="2800" dirty="0">
              <a:solidFill>
                <a:schemeClr val="accent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BF141B-7A5F-199E-1D3F-AD5FAE05623E}"/>
              </a:ext>
            </a:extLst>
          </p:cNvPr>
          <p:cNvSpPr/>
          <p:nvPr/>
        </p:nvSpPr>
        <p:spPr>
          <a:xfrm>
            <a:off x="419583" y="2074762"/>
            <a:ext cx="3747303" cy="46877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93F5BF-02AB-C358-40D2-24CE5C6E195A}"/>
              </a:ext>
            </a:extLst>
          </p:cNvPr>
          <p:cNvSpPr/>
          <p:nvPr/>
        </p:nvSpPr>
        <p:spPr>
          <a:xfrm>
            <a:off x="8025116" y="2074762"/>
            <a:ext cx="3747303" cy="46877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8D6120-F9A3-E44F-6A57-F08695778518}"/>
              </a:ext>
            </a:extLst>
          </p:cNvPr>
          <p:cNvSpPr/>
          <p:nvPr/>
        </p:nvSpPr>
        <p:spPr>
          <a:xfrm>
            <a:off x="4222350" y="2074762"/>
            <a:ext cx="3747303" cy="468774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CE582FD-4D00-4B85-9D5C-AD1AD755DB94}"/>
              </a:ext>
            </a:extLst>
          </p:cNvPr>
          <p:cNvCxnSpPr>
            <a:cxnSpLocks/>
          </p:cNvCxnSpPr>
          <p:nvPr/>
        </p:nvCxnSpPr>
        <p:spPr>
          <a:xfrm>
            <a:off x="750184" y="6026727"/>
            <a:ext cx="30861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113DAF1F-D1ED-7DAE-2925-CED6E8C04C32}"/>
              </a:ext>
            </a:extLst>
          </p:cNvPr>
          <p:cNvCxnSpPr>
            <a:cxnSpLocks/>
          </p:cNvCxnSpPr>
          <p:nvPr/>
        </p:nvCxnSpPr>
        <p:spPr>
          <a:xfrm>
            <a:off x="4552468" y="6026727"/>
            <a:ext cx="30861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43F1F9A-89EC-AEA6-5385-1CFA77A2E21E}"/>
              </a:ext>
            </a:extLst>
          </p:cNvPr>
          <p:cNvCxnSpPr>
            <a:cxnSpLocks/>
          </p:cNvCxnSpPr>
          <p:nvPr/>
        </p:nvCxnSpPr>
        <p:spPr>
          <a:xfrm>
            <a:off x="8435994" y="6026727"/>
            <a:ext cx="30861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D55998B-EB7C-1A37-03CA-8FF5ADC177C3}"/>
              </a:ext>
            </a:extLst>
          </p:cNvPr>
          <p:cNvSpPr txBox="1"/>
          <p:nvPr/>
        </p:nvSpPr>
        <p:spPr>
          <a:xfrm>
            <a:off x="1515118" y="6149582"/>
            <a:ext cx="15562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HSV 色键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24A6D20-EB93-F291-B920-BEDC59A748DC}"/>
              </a:ext>
            </a:extLst>
          </p:cNvPr>
          <p:cNvSpPr/>
          <p:nvPr/>
        </p:nvSpPr>
        <p:spPr>
          <a:xfrm>
            <a:off x="2199190" y="211102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4EE77551-3EEB-495D-1B55-B844DB8BC250}"/>
              </a:ext>
            </a:extLst>
          </p:cNvPr>
          <p:cNvSpPr/>
          <p:nvPr/>
        </p:nvSpPr>
        <p:spPr>
          <a:xfrm>
            <a:off x="6005518" y="2124766"/>
            <a:ext cx="180000" cy="18000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8EB921E8-D219-F4E1-12AA-866EDAC07976}"/>
              </a:ext>
            </a:extLst>
          </p:cNvPr>
          <p:cNvSpPr/>
          <p:nvPr/>
        </p:nvSpPr>
        <p:spPr>
          <a:xfrm>
            <a:off x="9889044" y="2111023"/>
            <a:ext cx="180000" cy="180000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20B9017-E715-9B84-FFD6-2A6BBC42ECA2}"/>
              </a:ext>
            </a:extLst>
          </p:cNvPr>
          <p:cNvSpPr txBox="1"/>
          <p:nvPr/>
        </p:nvSpPr>
        <p:spPr>
          <a:xfrm>
            <a:off x="5262421" y="6149582"/>
            <a:ext cx="15562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zh-CN" dirty="0"/>
              <a:t>SAM 兜底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A11B8D5-A4FE-8317-E1D7-AA7202392399}"/>
              </a:ext>
            </a:extLst>
          </p:cNvPr>
          <p:cNvSpPr txBox="1"/>
          <p:nvPr/>
        </p:nvSpPr>
        <p:spPr>
          <a:xfrm>
            <a:off x="9120650" y="6149581"/>
            <a:ext cx="17636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zh-CN" dirty="0"/>
              <a:t>LLM 驱动</a:t>
            </a:r>
            <a:endParaRPr lang="zh-CN" altLang="en-US" dirty="0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64C3A5E8-7D4A-FABB-B6F0-EF5F1F5BE15F}"/>
              </a:ext>
            </a:extLst>
          </p:cNvPr>
          <p:cNvSpPr/>
          <p:nvPr/>
        </p:nvSpPr>
        <p:spPr>
          <a:xfrm>
            <a:off x="515523" y="2327284"/>
            <a:ext cx="3547334" cy="521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b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CV算法 · 色键抠图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CFA695D8-EE28-4013-09FA-D954A54E4FE8}"/>
              </a:ext>
            </a:extLst>
          </p:cNvPr>
          <p:cNvSpPr/>
          <p:nvPr/>
        </p:nvSpPr>
        <p:spPr>
          <a:xfrm>
            <a:off x="4266870" y="2327284"/>
            <a:ext cx="3547334" cy="521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深度学习 </a:t>
            </a:r>
            <a:r>
              <a:rPr lang="en-US" altLang="zh-CN" b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· </a:t>
            </a:r>
            <a:r>
              <a:rPr lang="zh-CN" altLang="en-US" b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语义分割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80651CC6-2291-7515-ABFA-FBA80E7BBDD4}"/>
              </a:ext>
            </a:extLst>
          </p:cNvPr>
          <p:cNvSpPr/>
          <p:nvPr/>
        </p:nvSpPr>
        <p:spPr>
          <a:xfrm>
            <a:off x="8205377" y="2327284"/>
            <a:ext cx="3547334" cy="5211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Agent · </a:t>
            </a:r>
            <a:r>
              <a:rPr lang="zh-CN" altLang="en-US" b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智能调度中枢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134273D-A0CF-D7A3-02EA-09FAA1D26EA6}"/>
              </a:ext>
            </a:extLst>
          </p:cNvPr>
          <p:cNvSpPr txBox="1"/>
          <p:nvPr/>
        </p:nvSpPr>
        <p:spPr>
          <a:xfrm>
            <a:off x="405115" y="2878873"/>
            <a:ext cx="3761287" cy="3483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BGR 转 HSV 颜色空间，针对绿幕设定自适应阈值生成二值掩膜，支持动态调整色域适应不同光照条件。</a:t>
            </a:r>
            <a:endParaRPr lang="zh-CN" altLang="zh-CN" dirty="0"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形态学操作（膨胀→腐蚀→开运算）去除掩膜噪点，高斯羽化处理边缘实现像素级平滑过渡，消除锯齿与色溢。</a:t>
            </a:r>
            <a:endParaRPr lang="zh-CN" altLang="zh-CN" dirty="0"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9980157-821F-6908-2F84-D552B3CC6D44}"/>
              </a:ext>
            </a:extLst>
          </p:cNvPr>
          <p:cNvSpPr txBox="1"/>
          <p:nvPr/>
        </p:nvSpPr>
        <p:spPr>
          <a:xfrm>
            <a:off x="4159893" y="2909353"/>
            <a:ext cx="3761287" cy="3483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集成 MediaPipe Selfie Segmentation 实现轻量级实时人体分割，支持无绿幕场景下的高精度前景提取。</a:t>
            </a:r>
            <a:endParaRPr lang="zh-CN" altLang="zh-CN" dirty="0"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预留 SAM（Segment Anything）模型接口，通过ONNX Runtime 部署推理，在复杂背景下提供像素级精度兜底。</a:t>
            </a:r>
            <a:endParaRPr lang="zh-CN" altLang="zh-CN" dirty="0"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8FDA3CC-9D72-51DB-6720-838C724084BB}"/>
              </a:ext>
            </a:extLst>
          </p:cNvPr>
          <p:cNvSpPr txBox="1"/>
          <p:nvPr/>
        </p:nvSpPr>
        <p:spPr>
          <a:xfrm>
            <a:off x="8010166" y="2940766"/>
            <a:ext cx="3761287" cy="3137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实时监控视频流质量指标（光照强度、运动模糊度、背景复杂度），自动在 CV 色键与深度学习模式间切换。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支持自然语言指令控制，由 LLM 驱动的 Agent 解析并执行'切换背景''开启新闻模式'等全流程操作。</a:t>
            </a:r>
            <a:endParaRPr lang="zh-CN" altLang="zh-CN" dirty="0"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25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lang="zh-CN" altLang="zh-CN" dirty="0"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E7B8700B-69DC-4C5F-9023-C0B5EC38639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4969" y="93679"/>
            <a:ext cx="1685135" cy="52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338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63EBA-2FD2-212C-007F-43FBD119E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810DA4D-0DC0-D825-10FF-B57B5CC0BC65}"/>
              </a:ext>
            </a:extLst>
          </p:cNvPr>
          <p:cNvSpPr txBox="1"/>
          <p:nvPr/>
        </p:nvSpPr>
        <p:spPr>
          <a:xfrm>
            <a:off x="532533" y="278750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 b="1" i="0">
                <a:solidFill>
                  <a:schemeClr val="accent1"/>
                </a:solidFill>
                <a:effectLst/>
                <a:ea typeface="Microsoft YaHei" panose="020B0503020204020204" pitchFamily="34" charset="-122"/>
              </a:defRPr>
            </a:lvl1pPr>
          </a:lstStyle>
          <a:p>
            <a:r>
              <a:rPr lang="zh-CN" altLang="zh-CN" dirty="0"/>
              <a:t>项目分工与进度规划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7F78764-B8D5-9B81-06D1-6F68D4544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113282"/>
              </p:ext>
            </p:extLst>
          </p:nvPr>
        </p:nvGraphicFramePr>
        <p:xfrm>
          <a:off x="275359" y="1231719"/>
          <a:ext cx="4816186" cy="43945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5016">
                  <a:extLst>
                    <a:ext uri="{9D8B030D-6E8A-4147-A177-3AD203B41FA5}">
                      <a16:colId xmlns:a16="http://schemas.microsoft.com/office/drawing/2014/main" val="640314033"/>
                    </a:ext>
                  </a:extLst>
                </a:gridCol>
                <a:gridCol w="3251170">
                  <a:extLst>
                    <a:ext uri="{9D8B030D-6E8A-4147-A177-3AD203B41FA5}">
                      <a16:colId xmlns:a16="http://schemas.microsoft.com/office/drawing/2014/main" val="1853062011"/>
                    </a:ext>
                  </a:extLst>
                </a:gridCol>
              </a:tblGrid>
              <a:tr h="88514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20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成员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负责模块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78857"/>
                  </a:ext>
                </a:extLst>
              </a:tr>
              <a:tr h="8851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赵梓涵</a:t>
                      </a:r>
                      <a:endParaRPr lang="zh-CN" sz="2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0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视频采集与预处理模块、GUI界面开发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1368113"/>
                  </a:ext>
                </a:extLst>
              </a:tr>
              <a:tr h="8851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胡艺篷</a:t>
                      </a:r>
                      <a:endParaRPr lang="zh-CN" sz="2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0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抠图算法实现与调优、背景混合模块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7429383"/>
                  </a:ext>
                </a:extLst>
              </a:tr>
              <a:tr h="8851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郑亨通</a:t>
                      </a:r>
                      <a:endParaRPr lang="zh-CN" sz="20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0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特效模块开发、测试与性能优化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7390331"/>
                  </a:ext>
                </a:extLst>
              </a:tr>
              <a:tr h="8539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全体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0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系统集成、报告撰写、PPT制作与展示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8871300"/>
                  </a:ext>
                </a:extLst>
              </a:tr>
            </a:tbl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3A66ACB3-D30D-0346-3DAC-97D8DDBD90D3}"/>
              </a:ext>
            </a:extLst>
          </p:cNvPr>
          <p:cNvGrpSpPr/>
          <p:nvPr/>
        </p:nvGrpSpPr>
        <p:grpSpPr>
          <a:xfrm>
            <a:off x="5449433" y="1017912"/>
            <a:ext cx="6611217" cy="914400"/>
            <a:chOff x="5486397" y="1063424"/>
            <a:chExt cx="6611217" cy="91440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B0E40E73-43DD-8B11-6C06-CAF4B0A0ECE9}"/>
                </a:ext>
              </a:extLst>
            </p:cNvPr>
            <p:cNvSpPr/>
            <p:nvPr/>
          </p:nvSpPr>
          <p:spPr>
            <a:xfrm>
              <a:off x="6572247" y="1170129"/>
              <a:ext cx="1914526" cy="70099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 day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3DF0FE2-7997-58E1-62DE-7FC25A510EEA}"/>
                </a:ext>
              </a:extLst>
            </p:cNvPr>
            <p:cNvSpPr/>
            <p:nvPr/>
          </p:nvSpPr>
          <p:spPr>
            <a:xfrm>
              <a:off x="8658223" y="1068620"/>
              <a:ext cx="3439391" cy="90400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zh-CN" sz="2000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需求分析、技术调研、开发环境搭建</a:t>
              </a: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5A69B81F-EC28-F893-5688-F8FD3ADD715A}"/>
                </a:ext>
              </a:extLst>
            </p:cNvPr>
            <p:cNvSpPr/>
            <p:nvPr/>
          </p:nvSpPr>
          <p:spPr>
            <a:xfrm>
              <a:off x="5486397" y="1063424"/>
              <a:ext cx="914400" cy="9144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b="1" dirty="0">
                  <a:solidFill>
                    <a:srgbClr val="FFFF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36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EF6EE958-6E0D-C826-DAD3-0A84CD89F2D5}"/>
                </a:ext>
              </a:extLst>
            </p:cNvPr>
            <p:cNvCxnSpPr>
              <a:stCxn id="10" idx="6"/>
              <a:endCxn id="8" idx="2"/>
            </p:cNvCxnSpPr>
            <p:nvPr/>
          </p:nvCxnSpPr>
          <p:spPr>
            <a:xfrm>
              <a:off x="6400797" y="1520624"/>
              <a:ext cx="171450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F39173E7-AB33-ECA5-96F5-31448D2CD12D}"/>
                </a:ext>
              </a:extLst>
            </p:cNvPr>
            <p:cNvCxnSpPr>
              <a:stCxn id="8" idx="6"/>
              <a:endCxn id="9" idx="1"/>
            </p:cNvCxnSpPr>
            <p:nvPr/>
          </p:nvCxnSpPr>
          <p:spPr>
            <a:xfrm>
              <a:off x="8486773" y="1520624"/>
              <a:ext cx="171450" cy="1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8E36B18-09AC-CA4C-C02B-BE91E9354482}"/>
              </a:ext>
            </a:extLst>
          </p:cNvPr>
          <p:cNvGrpSpPr/>
          <p:nvPr/>
        </p:nvGrpSpPr>
        <p:grpSpPr>
          <a:xfrm>
            <a:off x="5449433" y="2358713"/>
            <a:ext cx="6611217" cy="914400"/>
            <a:chOff x="5486397" y="1063424"/>
            <a:chExt cx="6611217" cy="914400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0772D0EE-7E64-D2B7-7F4D-173415929200}"/>
                </a:ext>
              </a:extLst>
            </p:cNvPr>
            <p:cNvSpPr/>
            <p:nvPr/>
          </p:nvSpPr>
          <p:spPr>
            <a:xfrm>
              <a:off x="6572247" y="1170129"/>
              <a:ext cx="1914526" cy="70099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 days</a:t>
              </a: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C8AF1805-0F6A-CBDF-FA86-48A780F0ACED}"/>
                </a:ext>
              </a:extLst>
            </p:cNvPr>
            <p:cNvSpPr/>
            <p:nvPr/>
          </p:nvSpPr>
          <p:spPr>
            <a:xfrm>
              <a:off x="8658223" y="1068620"/>
              <a:ext cx="3439391" cy="90400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zh-CN" sz="2000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各功能模块独立开发与单元测试</a:t>
              </a: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FF205E83-AB27-A90A-BA4D-44474BD35BAE}"/>
                </a:ext>
              </a:extLst>
            </p:cNvPr>
            <p:cNvSpPr/>
            <p:nvPr/>
          </p:nvSpPr>
          <p:spPr>
            <a:xfrm>
              <a:off x="5486397" y="1063424"/>
              <a:ext cx="914400" cy="9144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b="1">
                  <a:solidFill>
                    <a:srgbClr val="FFFF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2</a:t>
              </a:r>
              <a:endParaRPr lang="zh-CN" altLang="en-US" sz="3600" b="1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DEE640F9-93B6-8587-C187-88626E4408BE}"/>
                </a:ext>
              </a:extLst>
            </p:cNvPr>
            <p:cNvCxnSpPr>
              <a:stCxn id="19" idx="6"/>
              <a:endCxn id="17" idx="2"/>
            </p:cNvCxnSpPr>
            <p:nvPr/>
          </p:nvCxnSpPr>
          <p:spPr>
            <a:xfrm>
              <a:off x="6400797" y="1520624"/>
              <a:ext cx="171450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336B9CE4-3F5E-7FF1-68EF-C55B6B6CB4DC}"/>
                </a:ext>
              </a:extLst>
            </p:cNvPr>
            <p:cNvCxnSpPr>
              <a:stCxn id="17" idx="6"/>
              <a:endCxn id="18" idx="1"/>
            </p:cNvCxnSpPr>
            <p:nvPr/>
          </p:nvCxnSpPr>
          <p:spPr>
            <a:xfrm>
              <a:off x="8486773" y="1520624"/>
              <a:ext cx="171450" cy="1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BED01F5-AC59-5CBD-8D9F-DE3E46CD9AFA}"/>
              </a:ext>
            </a:extLst>
          </p:cNvPr>
          <p:cNvGrpSpPr/>
          <p:nvPr/>
        </p:nvGrpSpPr>
        <p:grpSpPr>
          <a:xfrm>
            <a:off x="5449433" y="3699514"/>
            <a:ext cx="6611217" cy="914400"/>
            <a:chOff x="5486397" y="1063424"/>
            <a:chExt cx="6611217" cy="914400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8070AD0D-66F1-0A49-6F0A-06F725BDCDE6}"/>
                </a:ext>
              </a:extLst>
            </p:cNvPr>
            <p:cNvSpPr/>
            <p:nvPr/>
          </p:nvSpPr>
          <p:spPr>
            <a:xfrm>
              <a:off x="6572247" y="1170129"/>
              <a:ext cx="1914526" cy="70099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 days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45F62AEF-E290-5B3A-E40A-51905601031B}"/>
                </a:ext>
              </a:extLst>
            </p:cNvPr>
            <p:cNvSpPr/>
            <p:nvPr/>
          </p:nvSpPr>
          <p:spPr>
            <a:xfrm>
              <a:off x="8658223" y="1068620"/>
              <a:ext cx="3439391" cy="90400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zh-CN" sz="2000" dirty="0">
                  <a:solidFill>
                    <a:schemeClr val="accent1">
                      <a:lumMod val="75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系统集成联调、性能优化</a:t>
              </a: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122CE76-65B6-41B7-72BF-4D83B7ABEC74}"/>
                </a:ext>
              </a:extLst>
            </p:cNvPr>
            <p:cNvSpPr/>
            <p:nvPr/>
          </p:nvSpPr>
          <p:spPr>
            <a:xfrm>
              <a:off x="5486397" y="1063424"/>
              <a:ext cx="914400" cy="9144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b="1" dirty="0">
                  <a:solidFill>
                    <a:srgbClr val="FFFF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36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0F5DDBA8-CDD6-C6B4-DD70-33F39AC8E890}"/>
                </a:ext>
              </a:extLst>
            </p:cNvPr>
            <p:cNvCxnSpPr>
              <a:stCxn id="25" idx="6"/>
              <a:endCxn id="23" idx="2"/>
            </p:cNvCxnSpPr>
            <p:nvPr/>
          </p:nvCxnSpPr>
          <p:spPr>
            <a:xfrm>
              <a:off x="6400797" y="1520624"/>
              <a:ext cx="171450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88CB6280-FA12-49EA-0BDB-DB211944AD5E}"/>
                </a:ext>
              </a:extLst>
            </p:cNvPr>
            <p:cNvCxnSpPr>
              <a:stCxn id="23" idx="6"/>
              <a:endCxn id="24" idx="1"/>
            </p:cNvCxnSpPr>
            <p:nvPr/>
          </p:nvCxnSpPr>
          <p:spPr>
            <a:xfrm>
              <a:off x="8486773" y="1520624"/>
              <a:ext cx="171450" cy="1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D781155-BBA3-41B9-D31B-0023FFBDED0D}"/>
              </a:ext>
            </a:extLst>
          </p:cNvPr>
          <p:cNvGrpSpPr/>
          <p:nvPr/>
        </p:nvGrpSpPr>
        <p:grpSpPr>
          <a:xfrm>
            <a:off x="5449433" y="5040315"/>
            <a:ext cx="6611217" cy="914400"/>
            <a:chOff x="5486397" y="1063424"/>
            <a:chExt cx="6611217" cy="914400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CA473C9E-5D95-B5BB-FBEE-CF48CD60DA9F}"/>
                </a:ext>
              </a:extLst>
            </p:cNvPr>
            <p:cNvSpPr/>
            <p:nvPr/>
          </p:nvSpPr>
          <p:spPr>
            <a:xfrm>
              <a:off x="6572247" y="1170129"/>
              <a:ext cx="1914526" cy="70099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2 days</a:t>
              </a:r>
              <a:endPara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BC93576B-02CF-1A89-0A53-6789383198D4}"/>
                </a:ext>
              </a:extLst>
            </p:cNvPr>
            <p:cNvSpPr/>
            <p:nvPr/>
          </p:nvSpPr>
          <p:spPr>
            <a:xfrm>
              <a:off x="8658223" y="1068620"/>
              <a:ext cx="3439391" cy="90400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zh-CN" sz="2000" dirty="0">
                  <a:solidFill>
                    <a:schemeClr val="accent1">
                      <a:lumMod val="75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最终测试、报告撰写、展示准备</a:t>
              </a: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CFC95462-2FB3-8C7E-691B-B69681A53268}"/>
                </a:ext>
              </a:extLst>
            </p:cNvPr>
            <p:cNvSpPr/>
            <p:nvPr/>
          </p:nvSpPr>
          <p:spPr>
            <a:xfrm>
              <a:off x="5486397" y="1063424"/>
              <a:ext cx="914400" cy="9144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b="1" dirty="0">
                  <a:solidFill>
                    <a:srgbClr val="FFFF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36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8D6D408D-4DB1-C495-F8B3-2F5EDE810732}"/>
                </a:ext>
              </a:extLst>
            </p:cNvPr>
            <p:cNvCxnSpPr>
              <a:stCxn id="31" idx="6"/>
              <a:endCxn id="29" idx="2"/>
            </p:cNvCxnSpPr>
            <p:nvPr/>
          </p:nvCxnSpPr>
          <p:spPr>
            <a:xfrm>
              <a:off x="6400797" y="1520624"/>
              <a:ext cx="171450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876135E3-9883-97EB-D133-A84A1CC11DE3}"/>
                </a:ext>
              </a:extLst>
            </p:cNvPr>
            <p:cNvCxnSpPr>
              <a:stCxn id="29" idx="6"/>
              <a:endCxn id="30" idx="1"/>
            </p:cNvCxnSpPr>
            <p:nvPr/>
          </p:nvCxnSpPr>
          <p:spPr>
            <a:xfrm>
              <a:off x="8486773" y="1520624"/>
              <a:ext cx="171450" cy="1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B2C6FC2A-F6EC-4804-874A-BF9C17C6EE2B}"/>
              </a:ext>
            </a:extLst>
          </p:cNvPr>
          <p:cNvCxnSpPr>
            <a:stCxn id="10" idx="4"/>
            <a:endCxn id="19" idx="0"/>
          </p:cNvCxnSpPr>
          <p:nvPr/>
        </p:nvCxnSpPr>
        <p:spPr>
          <a:xfrm>
            <a:off x="5906633" y="1932312"/>
            <a:ext cx="0" cy="426401"/>
          </a:xfrm>
          <a:prstGeom prst="straightConnector1">
            <a:avLst/>
          </a:prstGeom>
          <a:ln w="762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617B0286-0683-3D60-2291-552CF7C33E17}"/>
              </a:ext>
            </a:extLst>
          </p:cNvPr>
          <p:cNvCxnSpPr>
            <a:cxnSpLocks/>
            <a:stCxn id="19" idx="4"/>
            <a:endCxn id="25" idx="0"/>
          </p:cNvCxnSpPr>
          <p:nvPr/>
        </p:nvCxnSpPr>
        <p:spPr>
          <a:xfrm>
            <a:off x="5906633" y="3273113"/>
            <a:ext cx="0" cy="426401"/>
          </a:xfrm>
          <a:prstGeom prst="straightConnector1">
            <a:avLst/>
          </a:prstGeom>
          <a:ln w="762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6E6E077-EA08-BB26-4014-67927BEF081E}"/>
              </a:ext>
            </a:extLst>
          </p:cNvPr>
          <p:cNvCxnSpPr>
            <a:stCxn id="25" idx="4"/>
            <a:endCxn id="31" idx="0"/>
          </p:cNvCxnSpPr>
          <p:nvPr/>
        </p:nvCxnSpPr>
        <p:spPr>
          <a:xfrm>
            <a:off x="5906633" y="4613914"/>
            <a:ext cx="0" cy="426401"/>
          </a:xfrm>
          <a:prstGeom prst="straightConnector1">
            <a:avLst/>
          </a:prstGeom>
          <a:ln w="762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图片 42">
            <a:extLst>
              <a:ext uri="{FF2B5EF4-FFF2-40B4-BE49-F238E27FC236}">
                <a16:creationId xmlns:a16="http://schemas.microsoft.com/office/drawing/2014/main" id="{97583BC7-3666-59AE-1581-0779F62361D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4969" y="93679"/>
            <a:ext cx="1685135" cy="52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774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D1789-826F-585C-C6A8-C94492867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AF78E8AD-1982-3624-87AE-BFDA0EA32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78540" y="311540"/>
            <a:ext cx="6234920" cy="623492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C81E8E3-D8F6-199E-6550-B5DFDE9401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92" b="14592"/>
          <a:stretch/>
        </p:blipFill>
        <p:spPr>
          <a:xfrm>
            <a:off x="191346" y="116631"/>
            <a:ext cx="11809309" cy="5226782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527C8D3-6929-F5AB-0953-00EFD85420A9}"/>
              </a:ext>
            </a:extLst>
          </p:cNvPr>
          <p:cNvSpPr/>
          <p:nvPr/>
        </p:nvSpPr>
        <p:spPr>
          <a:xfrm>
            <a:off x="191345" y="110465"/>
            <a:ext cx="11809309" cy="5226782"/>
          </a:xfrm>
          <a:prstGeom prst="rect">
            <a:avLst/>
          </a:prstGeom>
          <a:solidFill>
            <a:srgbClr val="156082">
              <a:alpha val="82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平行四边形 15">
            <a:extLst>
              <a:ext uri="{FF2B5EF4-FFF2-40B4-BE49-F238E27FC236}">
                <a16:creationId xmlns:a16="http://schemas.microsoft.com/office/drawing/2014/main" id="{7B5A9D8B-F74E-4793-96AA-60D7B0E60591}"/>
              </a:ext>
            </a:extLst>
          </p:cNvPr>
          <p:cNvSpPr/>
          <p:nvPr/>
        </p:nvSpPr>
        <p:spPr>
          <a:xfrm>
            <a:off x="4949527" y="5155867"/>
            <a:ext cx="2292946" cy="383827"/>
          </a:xfrm>
          <a:prstGeom prst="parallelogram">
            <a:avLst/>
          </a:prstGeom>
          <a:solidFill>
            <a:sysClr val="window" lastClr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文本占位符 24">
            <a:extLst>
              <a:ext uri="{FF2B5EF4-FFF2-40B4-BE49-F238E27FC236}">
                <a16:creationId xmlns:a16="http://schemas.microsoft.com/office/drawing/2014/main" id="{44917485-F1EA-FA23-6EF0-E6BBB1E9846B}"/>
              </a:ext>
            </a:extLst>
          </p:cNvPr>
          <p:cNvSpPr txBox="1">
            <a:spLocks/>
          </p:cNvSpPr>
          <p:nvPr/>
        </p:nvSpPr>
        <p:spPr>
          <a:xfrm>
            <a:off x="515378" y="2218964"/>
            <a:ext cx="11161239" cy="2133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感谢老师的聆听！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CF5C301-4E01-92AC-E284-36E21B326101}"/>
              </a:ext>
            </a:extLst>
          </p:cNvPr>
          <p:cNvCxnSpPr>
            <a:cxnSpLocks/>
          </p:cNvCxnSpPr>
          <p:nvPr/>
        </p:nvCxnSpPr>
        <p:spPr>
          <a:xfrm>
            <a:off x="2120482" y="3637706"/>
            <a:ext cx="7632848" cy="0"/>
          </a:xfrm>
          <a:prstGeom prst="lin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pic>
        <p:nvPicPr>
          <p:cNvPr id="21" name="图片 20">
            <a:extLst>
              <a:ext uri="{FF2B5EF4-FFF2-40B4-BE49-F238E27FC236}">
                <a16:creationId xmlns:a16="http://schemas.microsoft.com/office/drawing/2014/main" id="{F1B7635F-5D39-9C31-83F1-5E92D5E075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515" y="531723"/>
            <a:ext cx="4906970" cy="1533429"/>
          </a:xfrm>
          <a:prstGeom prst="rect">
            <a:avLst/>
          </a:prstGeom>
        </p:spPr>
      </p:pic>
      <p:sp>
        <p:nvSpPr>
          <p:cNvPr id="22" name="流程图: 过程 21">
            <a:extLst>
              <a:ext uri="{FF2B5EF4-FFF2-40B4-BE49-F238E27FC236}">
                <a16:creationId xmlns:a16="http://schemas.microsoft.com/office/drawing/2014/main" id="{3D927444-289C-D169-A06E-C2270C14576B}"/>
              </a:ext>
            </a:extLst>
          </p:cNvPr>
          <p:cNvSpPr/>
          <p:nvPr/>
        </p:nvSpPr>
        <p:spPr>
          <a:xfrm>
            <a:off x="1362349" y="5711445"/>
            <a:ext cx="3709972" cy="829428"/>
          </a:xfrm>
          <a:prstGeom prst="flowChartProcess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天津大学电子信息工程专业</a:t>
            </a:r>
          </a:p>
        </p:txBody>
      </p:sp>
      <p:sp>
        <p:nvSpPr>
          <p:cNvPr id="3" name="文本占位符 27">
            <a:extLst>
              <a:ext uri="{FF2B5EF4-FFF2-40B4-BE49-F238E27FC236}">
                <a16:creationId xmlns:a16="http://schemas.microsoft.com/office/drawing/2014/main" id="{46CDAB1D-E9AA-2EB6-B077-BD413CCB4E68}"/>
              </a:ext>
            </a:extLst>
          </p:cNvPr>
          <p:cNvSpPr txBox="1">
            <a:spLocks/>
          </p:cNvSpPr>
          <p:nvPr/>
        </p:nvSpPr>
        <p:spPr>
          <a:xfrm>
            <a:off x="1166824" y="3870938"/>
            <a:ext cx="9858345" cy="10648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天津大学电气自动化与信息工程学院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0">
              <a:defRPr/>
            </a:pPr>
            <a:r>
              <a:rPr lang="en-US" altLang="zh-CN" sz="2000" b="1" dirty="0">
                <a:solidFill>
                  <a:sysClr val="window" lastClr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School of Electrical Automation and Information Engineering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占位符 32">
            <a:extLst>
              <a:ext uri="{FF2B5EF4-FFF2-40B4-BE49-F238E27FC236}">
                <a16:creationId xmlns:a16="http://schemas.microsoft.com/office/drawing/2014/main" id="{A1B04E7E-0BFE-288E-F409-58F03F11BAED}"/>
              </a:ext>
            </a:extLst>
          </p:cNvPr>
          <p:cNvSpPr txBox="1">
            <a:spLocks/>
          </p:cNvSpPr>
          <p:nvPr/>
        </p:nvSpPr>
        <p:spPr>
          <a:xfrm>
            <a:off x="4791075" y="5132077"/>
            <a:ext cx="2609850" cy="5583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2026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sz="2400" b="1" dirty="0">
                <a:solidFill>
                  <a:srgbClr val="15608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altLang="zh-CN" sz="2400" b="1" dirty="0">
                <a:solidFill>
                  <a:srgbClr val="15608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日</a:t>
            </a:r>
          </a:p>
        </p:txBody>
      </p:sp>
      <p:sp>
        <p:nvSpPr>
          <p:cNvPr id="4" name="流程图: 过程 3">
            <a:extLst>
              <a:ext uri="{FF2B5EF4-FFF2-40B4-BE49-F238E27FC236}">
                <a16:creationId xmlns:a16="http://schemas.microsoft.com/office/drawing/2014/main" id="{53FC6573-4358-04A4-6CCC-DFAA05995BA9}"/>
              </a:ext>
            </a:extLst>
          </p:cNvPr>
          <p:cNvSpPr/>
          <p:nvPr/>
        </p:nvSpPr>
        <p:spPr>
          <a:xfrm>
            <a:off x="6967282" y="5711445"/>
            <a:ext cx="3709972" cy="829428"/>
          </a:xfrm>
          <a:prstGeom prst="flowChartProcess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赵子涵</a:t>
            </a:r>
            <a:r>
              <a:rPr lang="en-US" altLang="zh-CN" sz="2400" kern="0" dirty="0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郑亨通 胡艺篷</a:t>
            </a:r>
          </a:p>
        </p:txBody>
      </p:sp>
    </p:spTree>
    <p:extLst>
      <p:ext uri="{BB962C8B-B14F-4D97-AF65-F5344CB8AC3E}">
        <p14:creationId xmlns:p14="http://schemas.microsoft.com/office/powerpoint/2010/main" val="1008343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2169</Words>
  <Application>Microsoft Office PowerPoint</Application>
  <PresentationFormat>宽屏</PresentationFormat>
  <Paragraphs>140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等线</vt:lpstr>
      <vt:lpstr>等线 Light</vt:lpstr>
      <vt:lpstr>黑体</vt:lpstr>
      <vt:lpstr>楷体</vt:lpstr>
      <vt:lpstr>微软雅黑</vt:lpstr>
      <vt:lpstr>Arial</vt:lpstr>
      <vt:lpstr>Calibri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亨通 郑</dc:creator>
  <cp:lastModifiedBy>亨通 郑</cp:lastModifiedBy>
  <cp:revision>9</cp:revision>
  <dcterms:created xsi:type="dcterms:W3CDTF">2026-09-07T08:48:21Z</dcterms:created>
  <dcterms:modified xsi:type="dcterms:W3CDTF">2026-09-07T14:28:39Z</dcterms:modified>
</cp:coreProperties>
</file>