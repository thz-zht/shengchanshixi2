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F3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0F3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23959" y="914400"/>
            <a:ext cx="4206240" cy="4206240"/>
          </a:xfrm>
          <a:prstGeom prst="ellipse">
            <a:avLst/>
          </a:prstGeom>
          <a:noFill/>
          <a:ln w="12700">
            <a:solidFill>
              <a:srgbClr val="DCE7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99448" y="1389887"/>
            <a:ext cx="3255264" cy="3255264"/>
          </a:xfrm>
          <a:prstGeom prst="ellipse">
            <a:avLst/>
          </a:prstGeom>
          <a:noFill/>
          <a:ln w="1143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74936" y="1865376"/>
            <a:ext cx="2304288" cy="2304288"/>
          </a:xfrm>
          <a:prstGeom prst="ellipse">
            <a:avLst/>
          </a:prstGeom>
          <a:noFill/>
          <a:ln w="1143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75488"/>
            <a:ext cx="933454" cy="932688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1755648" y="5486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 err="1">
                <a:solidFill>
                  <a:srgbClr val="0F3D74"/>
                </a:solidFill>
                <a:latin typeface="Microsoft YaHei"/>
                <a:ea typeface="Microsoft YaHei"/>
              </a:rPr>
              <a:t>天津大学</a:t>
            </a:r>
            <a:endParaRPr sz="2400" b="1" i="0" dirty="0">
              <a:solidFill>
                <a:srgbClr val="0F3D74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73936" y="1078992"/>
            <a:ext cx="5029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Times New Roman"/>
                <a:ea typeface="Microsoft YaHei"/>
              </a:rPr>
              <a:t>TIANJIN UNIVERSITY  ·  1895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25712" y="603504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DCE7F3"/>
          </a:solidFill>
          <a:ln w="9525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25712" y="603504"/>
            <a:ext cx="25603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F3D74"/>
                </a:solidFill>
                <a:latin typeface="Microsoft YaHei"/>
                <a:ea typeface="Microsoft YaHei"/>
              </a:rPr>
              <a:t>生产实习 · 开题答辩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2128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dirty="0">
                <a:solidFill>
                  <a:srgbClr val="B9743A"/>
                </a:solidFill>
                <a:latin typeface="Microsoft YaHei"/>
                <a:ea typeface="Microsoft YaHei"/>
              </a:rPr>
              <a:t>开 题 报 告 ｜ 2 0 2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60320"/>
            <a:ext cx="103327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22303F"/>
                </a:solidFill>
                <a:latin typeface="Microsoft YaHei"/>
                <a:ea typeface="Microsoft YaHei"/>
              </a:rPr>
              <a:t>面向真实感图像合成的图像抠取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18688"/>
            <a:ext cx="103327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0F3D74"/>
                </a:solidFill>
                <a:latin typeface="Microsoft YaHei"/>
                <a:ea typeface="Microsoft YaHei"/>
              </a:rPr>
              <a:t>与光影一致性融合方法研究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3271" y="3986784"/>
            <a:ext cx="1755649" cy="0"/>
          </a:xfrm>
          <a:prstGeom prst="line">
            <a:avLst/>
          </a:prstGeom>
          <a:ln w="27940">
            <a:solidFill>
              <a:srgbClr val="B97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4128" y="4133087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 i="0">
                <a:solidFill>
                  <a:srgbClr val="5E6E80"/>
                </a:solidFill>
                <a:latin typeface="Microsoft YaHei"/>
                <a:ea typeface="Microsoft YaHei"/>
              </a:rPr>
              <a:t>—— 多模态交互式 Agent 系统设计与实现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681728"/>
            <a:ext cx="1865376" cy="36576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68172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0F3D74"/>
                </a:solidFill>
                <a:latin typeface="Microsoft YaHei"/>
                <a:ea typeface="Microsoft YaHei"/>
              </a:rPr>
              <a:t>图像抠取 Matting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90672" y="4681728"/>
            <a:ext cx="2482596" cy="36576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90672" y="4681728"/>
            <a:ext cx="248259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0F3D74"/>
                </a:solidFill>
                <a:latin typeface="Microsoft YaHei"/>
                <a:ea typeface="Microsoft YaHei"/>
              </a:rPr>
              <a:t>光影一致融合 Relighting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74436" y="4681728"/>
            <a:ext cx="1618488" cy="36576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74436" y="4681728"/>
            <a:ext cx="161848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0F3D74"/>
                </a:solidFill>
                <a:latin typeface="Microsoft YaHei"/>
                <a:ea typeface="Microsoft YaHei"/>
              </a:rPr>
              <a:t>语音驱动 Agent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24128" y="5358384"/>
            <a:ext cx="10158984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E6C56DBC-FBB1-B9CA-FF3B-1E6346F4E473}"/>
              </a:ext>
            </a:extLst>
          </p:cNvPr>
          <p:cNvSpPr txBox="1"/>
          <p:nvPr/>
        </p:nvSpPr>
        <p:spPr>
          <a:xfrm>
            <a:off x="1005840" y="5484615"/>
            <a:ext cx="2400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汇报人：赵梓涵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3020440-2EC7-F353-EF7C-1C1EDC556811}"/>
              </a:ext>
            </a:extLst>
          </p:cNvPr>
          <p:cNvSpPr txBox="1"/>
          <p:nvPr/>
        </p:nvSpPr>
        <p:spPr>
          <a:xfrm>
            <a:off x="974278" y="5931672"/>
            <a:ext cx="3904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    员：赵梓涵，郑亨通，胡艺篷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问题与创新 · 技术可行性 · 应用价值与保障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" y="1600200"/>
            <a:ext cx="10607040" cy="129844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1600200"/>
            <a:ext cx="82296" cy="1298448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1856232"/>
            <a:ext cx="11887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1">
                <a:solidFill>
                  <a:srgbClr val="2A5DA8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19656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>
              <a:lnSpc>
                <a:spcPct val="100000"/>
              </a:lnSpc>
              <a:spcAft>
                <a:spcPts val="0"/>
              </a:spcAft>
              <a:defRPr sz="2400" b="1" i="0">
                <a:solidFill>
                  <a:srgbClr val="0F3D74"/>
                </a:solidFill>
                <a:latin typeface="Microsoft YaHei"/>
                <a:ea typeface="Microsoft YaHei"/>
              </a:defRPr>
            </a:lvl1pPr>
          </a:lstStyle>
          <a:p>
            <a:r>
              <a:rPr dirty="0" err="1"/>
              <a:t>问题与创新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542032" y="2313432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选题背景</a:t>
            </a:r>
            <a:r>
              <a:rPr sz="95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</a:t>
            </a:r>
            <a:r>
              <a:rPr sz="95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研究现状</a:t>
            </a:r>
            <a:r>
              <a:rPr sz="95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</a:t>
            </a:r>
            <a:r>
              <a:rPr sz="95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现存问题</a:t>
            </a:r>
            <a:r>
              <a:rPr sz="95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</a:t>
            </a:r>
            <a:r>
              <a:rPr sz="95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目标内容</a:t>
            </a:r>
            <a:r>
              <a:rPr sz="95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</a:t>
            </a:r>
            <a:r>
              <a:rPr sz="95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技术路线</a:t>
            </a:r>
            <a:r>
              <a:rPr sz="95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核心创新（P3–P13）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154680"/>
            <a:ext cx="10607040" cy="129844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154680"/>
            <a:ext cx="82296" cy="1298448"/>
          </a:xfrm>
          <a:prstGeom prst="rect">
            <a:avLst/>
          </a:prstGeom>
          <a:solidFill>
            <a:srgbClr val="B9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410712"/>
            <a:ext cx="11887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1">
                <a:solidFill>
                  <a:srgbClr val="B9743A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374136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>
              <a:lnSpc>
                <a:spcPct val="100000"/>
              </a:lnSpc>
              <a:spcAft>
                <a:spcPts val="0"/>
              </a:spcAft>
              <a:defRPr sz="2400" b="1" i="0">
                <a:solidFill>
                  <a:srgbClr val="0F3D74"/>
                </a:solidFill>
                <a:latin typeface="Microsoft YaHei"/>
                <a:ea typeface="Microsoft YaHei"/>
              </a:defRPr>
            </a:lvl1pPr>
          </a:lstStyle>
          <a:p>
            <a:r>
              <a:rPr dirty="0" err="1"/>
              <a:t>技术可行性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2542032" y="3867912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抠取</a:t>
            </a:r>
            <a:r>
              <a:rPr sz="11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/ </a:t>
            </a:r>
            <a:r>
              <a:rPr sz="11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合成光影</a:t>
            </a:r>
            <a:r>
              <a:rPr sz="11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/ Agent </a:t>
            </a:r>
            <a:r>
              <a:rPr sz="11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与保障：数据</a:t>
            </a:r>
            <a:r>
              <a:rPr sz="11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</a:t>
            </a:r>
            <a:r>
              <a:rPr sz="11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指标</a:t>
            </a:r>
            <a:r>
              <a:rPr sz="11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对比结果（P14–P16）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09160"/>
            <a:ext cx="10607040" cy="129844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ectangle 20"/>
          <p:cNvSpPr/>
          <p:nvPr/>
        </p:nvSpPr>
        <p:spPr>
          <a:xfrm>
            <a:off x="777240" y="4709160"/>
            <a:ext cx="82296" cy="1298448"/>
          </a:xfrm>
          <a:prstGeom prst="rect">
            <a:avLst/>
          </a:prstGeom>
          <a:solidFill>
            <a:srgbClr val="4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965192"/>
            <a:ext cx="11887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1">
                <a:solidFill>
                  <a:srgbClr val="4E7C6B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928616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 err="1">
                <a:solidFill>
                  <a:srgbClr val="0F3D74"/>
                </a:solidFill>
                <a:latin typeface="Microsoft YaHei"/>
                <a:ea typeface="Microsoft YaHei"/>
              </a:rPr>
              <a:t>应用价值与保障</a:t>
            </a:r>
            <a:endParaRPr sz="2400" b="1" i="0" dirty="0">
              <a:solidFill>
                <a:srgbClr val="0F3D74"/>
              </a:solidFill>
              <a:latin typeface="Microsoft YaHei"/>
              <a:ea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42032" y="5422392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E6E80"/>
                </a:solidFill>
                <a:latin typeface="Microsoft YaHei"/>
                <a:ea typeface="Microsoft YaHei"/>
              </a:rPr>
              <a:t>实际应用价值 · 预期成果与进度安排（P17–P18）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106070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E6E80"/>
                </a:solidFill>
                <a:latin typeface="Microsoft YaHei"/>
                <a:ea typeface="Microsoft YaHei"/>
              </a:rPr>
              <a:t>附：参考文献（GB/T 7714，30 条）见 P19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02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选题背景与意义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BACKGROUND &amp;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抠取与合成是内容生产的底层环节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265936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F3D74"/>
                </a:solidFill>
                <a:latin typeface="Microsoft YaHei"/>
                <a:ea typeface="Microsoft YaHei"/>
              </a:rPr>
              <a:t>应用需求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45920"/>
            <a:ext cx="1124712" cy="365760"/>
          </a:xfrm>
          <a:prstGeom prst="roundRect">
            <a:avLst>
              <a:gd name="adj" fmla="val 50000"/>
            </a:avLst>
          </a:prstGeom>
          <a:solidFill>
            <a:srgbClr val="DCE7F3"/>
          </a:solidFill>
          <a:ln w="9525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0F3D74"/>
                </a:solidFill>
                <a:latin typeface="Microsoft YaHei"/>
                <a:ea typeface="Microsoft YaHei"/>
              </a:rPr>
              <a:t>电商虚拟试衣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92224" y="1645920"/>
            <a:ext cx="1124712" cy="365760"/>
          </a:xfrm>
          <a:prstGeom prst="roundRect">
            <a:avLst>
              <a:gd name="adj" fmla="val 50000"/>
            </a:avLst>
          </a:prstGeom>
          <a:solidFill>
            <a:srgbClr val="DCE7F3"/>
          </a:solidFill>
          <a:ln w="9525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1792224" y="1645920"/>
            <a:ext cx="112471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0F3D74"/>
                </a:solidFill>
                <a:latin typeface="Microsoft YaHei"/>
                <a:ea typeface="Microsoft YaHei"/>
              </a:rPr>
              <a:t>影视后期合成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81528" y="1645920"/>
            <a:ext cx="1257300" cy="365760"/>
          </a:xfrm>
          <a:prstGeom prst="roundRect">
            <a:avLst>
              <a:gd name="adj" fmla="val 50000"/>
            </a:avLst>
          </a:prstGeom>
          <a:solidFill>
            <a:srgbClr val="DCE7F3"/>
          </a:solidFill>
          <a:ln w="9525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3081528" y="1645920"/>
            <a:ext cx="12573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0F3D74"/>
                </a:solidFill>
                <a:latin typeface="Microsoft YaHei"/>
                <a:ea typeface="Microsoft YaHei"/>
              </a:rPr>
              <a:t>短视频内容生产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212848"/>
            <a:ext cx="489204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502920" y="2212848"/>
            <a:ext cx="54864" cy="969264"/>
          </a:xfrm>
          <a:prstGeom prst="rect">
            <a:avLst/>
          </a:prstGeom>
          <a:solidFill>
            <a:srgbClr val="A9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85800" y="2304288"/>
            <a:ext cx="45262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A94A3F"/>
                </a:solidFill>
                <a:latin typeface="Microsoft YaHei"/>
                <a:ea typeface="Microsoft YaHei"/>
              </a:rPr>
              <a:t>传统人工流程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615184"/>
            <a:ext cx="4526279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2303F"/>
                </a:solidFill>
                <a:latin typeface="Microsoft YaHei"/>
                <a:ea typeface="Microsoft YaHei"/>
              </a:rPr>
              <a:t>发丝级抠图与光影匹配依赖资深设计师，数小时 / 张，难批量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46704"/>
            <a:ext cx="489204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Rectangle 21"/>
          <p:cNvSpPr/>
          <p:nvPr/>
        </p:nvSpPr>
        <p:spPr>
          <a:xfrm>
            <a:off x="502920" y="3346704"/>
            <a:ext cx="54864" cy="969264"/>
          </a:xfrm>
          <a:prstGeom prst="rect">
            <a:avLst/>
          </a:prstGeom>
          <a:solidFill>
            <a:srgbClr val="A9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685800" y="3438144"/>
            <a:ext cx="45262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A94A3F"/>
                </a:solidFill>
                <a:latin typeface="Microsoft YaHei"/>
                <a:ea typeface="Microsoft YaHei"/>
              </a:rPr>
              <a:t>现有在线工具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49040"/>
            <a:ext cx="4526279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2303F"/>
                </a:solidFill>
                <a:latin typeface="Microsoft YaHei"/>
                <a:ea typeface="Microsoft YaHei"/>
              </a:rPr>
              <a:t>仅「一键去背景」：无重打光、无阴影生成、无自然交互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80560"/>
            <a:ext cx="489204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Rectangle 25"/>
          <p:cNvSpPr/>
          <p:nvPr/>
        </p:nvSpPr>
        <p:spPr>
          <a:xfrm>
            <a:off x="502920" y="4480560"/>
            <a:ext cx="54864" cy="969264"/>
          </a:xfrm>
          <a:prstGeom prst="rect">
            <a:avLst/>
          </a:prstGeom>
          <a:solidFill>
            <a:srgbClr val="A9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685800" y="4572000"/>
            <a:ext cx="45262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A94A3F"/>
                </a:solidFill>
                <a:latin typeface="Microsoft YaHei"/>
                <a:ea typeface="Microsoft YaHei"/>
              </a:rPr>
              <a:t>交互式编辑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882896"/>
            <a:ext cx="4526279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22303F"/>
                </a:solidFill>
                <a:latin typeface="Microsoft YaHei"/>
                <a:ea typeface="Microsoft YaHei"/>
              </a:rPr>
              <a:t>多轮连续操作性能断崖式退化，语音模态尚未系统引入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69280"/>
            <a:ext cx="4892040" cy="74980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667512" y="5742432"/>
            <a:ext cx="4562855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3D74"/>
                </a:solidFill>
                <a:latin typeface="Microsoft YaHei"/>
                <a:ea typeface="Microsoft YaHei"/>
              </a:rPr>
              <a:t>意义  </a:t>
            </a:r>
            <a:r>
              <a:rPr sz="1100" b="0" i="0">
                <a:solidFill>
                  <a:srgbClr val="22303F"/>
                </a:solidFill>
                <a:latin typeface="Microsoft YaHei"/>
                <a:ea typeface="Microsoft YaHei"/>
              </a:rPr>
              <a:t>应用：「一句话出图」工具；学术：光影联合建模 + 多模态交互范式；工程：可复用 Agent 工具链</a:t>
            </a:r>
          </a:p>
        </p:txBody>
      </p:sp>
      <p:pic>
        <p:nvPicPr>
          <p:cNvPr id="31" name="Picture 30" descr="crop_ip2p_cm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316736"/>
            <a:ext cx="6062472" cy="1550260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5623560" y="2912716"/>
            <a:ext cx="60624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F3D74"/>
                </a:solidFill>
                <a:latin typeface="Microsoft YaHei"/>
                <a:ea typeface="Microsoft YaHei"/>
              </a:rPr>
              <a:t>图 1 ｜ </a:t>
            </a: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指令式编辑：用语言改图 · 源：InstructPix2Pix [25]</a:t>
            </a:r>
          </a:p>
        </p:txBody>
      </p:sp>
      <p:pic>
        <p:nvPicPr>
          <p:cNvPr id="33" name="Picture 32" descr="crop_iclight_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310128"/>
            <a:ext cx="6062472" cy="960264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5623560" y="4316112"/>
            <a:ext cx="60624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dirty="0">
                <a:solidFill>
                  <a:srgbClr val="0F3D74"/>
                </a:solidFill>
                <a:latin typeface="Microsoft YaHei"/>
                <a:ea typeface="Microsoft YaHei"/>
              </a:rPr>
              <a:t>图 2 ｜ </a:t>
            </a:r>
            <a:r>
              <a:rPr sz="105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前景条件重打光（输入</a:t>
            </a:r>
            <a:r>
              <a:rPr sz="1050" b="0" i="0" dirty="0">
                <a:solidFill>
                  <a:srgbClr val="5E6E80"/>
                </a:solidFill>
                <a:latin typeface="Microsoft YaHei"/>
                <a:ea typeface="Microsoft YaHei"/>
              </a:rPr>
              <a:t> → </a:t>
            </a:r>
            <a:r>
              <a:rPr sz="105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三种光照输出</a:t>
            </a:r>
            <a:r>
              <a:rPr sz="1050" b="0" i="0" dirty="0">
                <a:solidFill>
                  <a:srgbClr val="5E6E80"/>
                </a:solidFill>
                <a:latin typeface="Microsoft YaHei"/>
                <a:ea typeface="Microsoft YaHei"/>
              </a:rPr>
              <a:t>） · </a:t>
            </a:r>
            <a:r>
              <a:rPr sz="105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源：IC-Light</a:t>
            </a:r>
            <a:r>
              <a:rPr sz="1050" b="0" i="0" dirty="0">
                <a:solidFill>
                  <a:srgbClr val="5E6E80"/>
                </a:solidFill>
                <a:latin typeface="Microsoft YaHei"/>
                <a:ea typeface="Microsoft YaHei"/>
              </a:rPr>
              <a:t> [20]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4791456"/>
            <a:ext cx="6062472" cy="1627632"/>
          </a:xfrm>
          <a:prstGeom prst="roundRect">
            <a:avLst>
              <a:gd name="adj" fmla="val 8000"/>
            </a:avLst>
          </a:prstGeom>
          <a:solidFill>
            <a:srgbClr val="FBF6F0"/>
          </a:solidFill>
          <a:ln w="11430">
            <a:solidFill>
              <a:srgbClr val="B97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TextBox 35"/>
          <p:cNvSpPr txBox="1"/>
          <p:nvPr/>
        </p:nvSpPr>
        <p:spPr>
          <a:xfrm>
            <a:off x="5806440" y="4937760"/>
            <a:ext cx="569671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B9743A"/>
                </a:solidFill>
                <a:latin typeface="Microsoft YaHei"/>
                <a:ea typeface="Microsoft YaHei"/>
              </a:rPr>
              <a:t>本课题定位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5266944"/>
            <a:ext cx="5696712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22303F"/>
                </a:solidFill>
                <a:latin typeface="Microsoft YaHei"/>
                <a:ea typeface="Microsoft YaHei"/>
              </a:rPr>
              <a:t>语音驱动的多模态合成 Agent：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高精度抠取 → 背景生成 → 光影一致融合 → 自评修正 → 语音反馈，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端到端 ≤ 10 秒；与实验室虚拟试衣研究上下游闭环。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03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研究现状 ① 图像抠取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RELATED WORK · MATTING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SAD 59.6 → 16.89，发丝级已可用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s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3291840" cy="2289778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02920" y="368881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F3D74"/>
                </a:solidFill>
                <a:latin typeface="Microsoft YaHei"/>
                <a:ea typeface="Microsoft YaHei"/>
              </a:rPr>
              <a:t>图 3 ｜ </a:t>
            </a: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Composition-1k SAD 演进 · 据 [1][5][8] 公开数据自绘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5020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3D74"/>
                </a:solidFill>
                <a:latin typeface="Microsoft YaHei"/>
                <a:ea typeface="Microsoft YaHei"/>
              </a:rPr>
              <a:t>三类技术路线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61104"/>
            <a:ext cx="3291840" cy="56692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762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49224" y="43159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A5DA8"/>
                </a:solidFill>
                <a:latin typeface="Microsoft YaHei"/>
                <a:ea typeface="Microsoft YaHei"/>
              </a:rPr>
              <a:t>Trimap 引导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553712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E6E80"/>
                </a:solidFill>
                <a:latin typeface="Microsoft YaHei"/>
                <a:ea typeface="Microsoft YaHei"/>
              </a:rPr>
              <a:t>DIM → ViTMatte [1][4]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37760"/>
            <a:ext cx="3291840" cy="56692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762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649224" y="4992624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A5DA8"/>
                </a:solidFill>
                <a:latin typeface="Microsoft YaHei"/>
                <a:ea typeface="Microsoft YaHei"/>
              </a:rPr>
              <a:t>无引导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2303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E6E80"/>
                </a:solidFill>
                <a:latin typeface="Microsoft YaHei"/>
                <a:ea typeface="Microsoft YaHei"/>
              </a:rPr>
              <a:t>MatteFormer · BiRefNet [5]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14416"/>
            <a:ext cx="3291840" cy="56692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762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649224" y="566928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A5DA8"/>
                </a:solidFill>
                <a:latin typeface="Microsoft YaHei"/>
                <a:ea typeface="Microsoft YaHei"/>
              </a:rPr>
              <a:t>交互 / 提示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5907024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E6E80"/>
                </a:solidFill>
                <a:latin typeface="Microsoft YaHei"/>
                <a:ea typeface="Microsoft YaHei"/>
              </a:rPr>
              <a:t>SAM / SAM 2 [6][7] · Matte Anything [8]</a:t>
            </a:r>
          </a:p>
        </p:txBody>
      </p:sp>
      <p:pic>
        <p:nvPicPr>
          <p:cNvPr id="22" name="Picture 21" descr="crop_matan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353312"/>
            <a:ext cx="4663440" cy="2001948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4160520" y="3400980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F3D74"/>
                </a:solidFill>
                <a:latin typeface="Microsoft YaHei"/>
                <a:ea typeface="Microsoft YaHei"/>
              </a:rPr>
              <a:t>图 4 ｜ </a:t>
            </a: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交互式抠取：SAM + 抠图头 · 源：Matte Anything [8]</a:t>
            </a:r>
          </a:p>
        </p:txBody>
      </p:sp>
      <p:pic>
        <p:nvPicPr>
          <p:cNvPr id="24" name="Picture 23" descr="crop_matting_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353312"/>
            <a:ext cx="2633472" cy="496881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9052560" y="1895913"/>
            <a:ext cx="26334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F3D74"/>
                </a:solidFill>
                <a:latin typeface="Microsoft YaHei"/>
                <a:ea typeface="Microsoft YaHei"/>
              </a:rPr>
              <a:t>图 5 ｜ </a:t>
            </a: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发丝级 alpha · 源：RVM [3]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2834640"/>
            <a:ext cx="2633472" cy="1481328"/>
          </a:xfrm>
          <a:prstGeom prst="roundRect">
            <a:avLst>
              <a:gd name="adj" fmla="val 8000"/>
            </a:avLst>
          </a:prstGeom>
          <a:solidFill>
            <a:srgbClr val="FDF4F2"/>
          </a:solidFill>
          <a:ln w="10160">
            <a:solidFill>
              <a:srgbClr val="A94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9198864" y="2944368"/>
            <a:ext cx="234086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A94A3F"/>
                </a:solidFill>
                <a:latin typeface="Microsoft YaHei"/>
                <a:ea typeface="Microsoft YaHei"/>
              </a:rPr>
              <a:t>短板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3255264"/>
            <a:ext cx="2340864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透明 / 半透明目标（玻璃·薄纱）误差高出一个数量级；视频时序依赖专门模型 [3]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4572000"/>
            <a:ext cx="7525512" cy="1792224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 w="10795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4343400" y="4700016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dirty="0" err="1">
                <a:solidFill>
                  <a:srgbClr val="0F3D74"/>
                </a:solidFill>
                <a:latin typeface="Microsoft YaHei"/>
                <a:ea typeface="Microsoft YaHei"/>
              </a:rPr>
              <a:t>评测协议与结论</a:t>
            </a:r>
            <a:endParaRPr b="1" i="0" dirty="0">
              <a:solidFill>
                <a:srgbClr val="0F3D74"/>
              </a:solidFill>
              <a:latin typeface="Microsoft YaHei"/>
              <a:ea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43400" y="5029200"/>
            <a:ext cx="7178040" cy="1243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· 基准：Composition-1k [1]，</a:t>
            </a:r>
            <a:r>
              <a:rPr sz="1200" b="0" i="0" dirty="0" err="1">
                <a:solidFill>
                  <a:srgbClr val="22303F"/>
                </a:solidFill>
                <a:latin typeface="Microsoft YaHei"/>
                <a:ea typeface="Microsoft YaHei"/>
              </a:rPr>
              <a:t>指标</a:t>
            </a:r>
            <a:r>
              <a:rPr sz="1200" b="0" i="0" dirty="0">
                <a:solidFill>
                  <a:srgbClr val="22303F"/>
                </a:solidFill>
                <a:latin typeface="Microsoft YaHei"/>
                <a:ea typeface="Microsoft YaHei"/>
              </a:rPr>
              <a:t> SAD / MSE / Grad / Conn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 dirty="0">
                <a:solidFill>
                  <a:srgbClr val="22303F"/>
                </a:solidFill>
                <a:latin typeface="Microsoft YaHei"/>
                <a:ea typeface="Microsoft YaHei"/>
              </a:rPr>
              <a:t>· </a:t>
            </a:r>
            <a:r>
              <a:rPr sz="1200" b="0" i="0" dirty="0" err="1">
                <a:solidFill>
                  <a:srgbClr val="22303F"/>
                </a:solidFill>
                <a:latin typeface="Microsoft YaHei"/>
                <a:ea typeface="Microsoft YaHei"/>
              </a:rPr>
              <a:t>演进：最优</a:t>
            </a:r>
            <a:r>
              <a:rPr sz="1200" b="0" i="0" dirty="0">
                <a:solidFill>
                  <a:srgbClr val="22303F"/>
                </a:solidFill>
                <a:latin typeface="Microsoft YaHei"/>
                <a:ea typeface="Microsoft YaHei"/>
              </a:rPr>
              <a:t> SAD 由 DIM 59.6 → </a:t>
            </a:r>
            <a:r>
              <a:rPr sz="1200" b="0" i="0" dirty="0" err="1">
                <a:solidFill>
                  <a:srgbClr val="22303F"/>
                </a:solidFill>
                <a:latin typeface="Microsoft YaHei"/>
                <a:ea typeface="Microsoft YaHei"/>
              </a:rPr>
              <a:t>BiRefNet</a:t>
            </a:r>
            <a:r>
              <a:rPr sz="1200" b="0" i="0" dirty="0">
                <a:solidFill>
                  <a:srgbClr val="22303F"/>
                </a:solidFill>
                <a:latin typeface="Microsoft YaHei"/>
                <a:ea typeface="Microsoft YaHei"/>
              </a:rPr>
              <a:t> 16.89，下降 72%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 i="0" dirty="0">
                <a:solidFill>
                  <a:srgbClr val="2A5DA8"/>
                </a:solidFill>
                <a:latin typeface="Microsoft YaHei"/>
                <a:ea typeface="Microsoft YaHei"/>
              </a:rPr>
              <a:t>· </a:t>
            </a:r>
            <a:r>
              <a:rPr sz="1200" b="1" i="0" dirty="0" err="1">
                <a:solidFill>
                  <a:srgbClr val="2A5DA8"/>
                </a:solidFill>
                <a:latin typeface="Microsoft YaHei"/>
                <a:ea typeface="Microsoft YaHei"/>
              </a:rPr>
              <a:t>结论：人像与商品抠取已可用</a:t>
            </a:r>
            <a:r>
              <a:rPr sz="1200" b="1" i="0" dirty="0">
                <a:solidFill>
                  <a:srgbClr val="2A5DA8"/>
                </a:solidFill>
                <a:latin typeface="Microsoft YaHei"/>
                <a:ea typeface="Microsoft YaHei"/>
              </a:rPr>
              <a:t> → </a:t>
            </a:r>
            <a:r>
              <a:rPr sz="1200" b="1" i="0" dirty="0" err="1">
                <a:solidFill>
                  <a:srgbClr val="2A5DA8"/>
                </a:solidFill>
                <a:latin typeface="Microsoft YaHei"/>
                <a:ea typeface="Microsoft YaHei"/>
              </a:rPr>
              <a:t>可作为本系统可靠前端</a:t>
            </a:r>
            <a:endParaRPr sz="1200" b="1" i="0" dirty="0">
              <a:solidFill>
                <a:srgbClr val="2A5DA8"/>
              </a:solidFill>
              <a:latin typeface="Microsoft YaHei"/>
              <a:ea typeface="Microsoft YaHei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04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研究现状 ② 合成与和谐化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RELATED WORK ·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外观和谐化已成熟，光照联合一致是难点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rop_ctrlnet_d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5577840" cy="1374539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02920" y="2773571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3D74"/>
                </a:solidFill>
                <a:latin typeface="Microsoft YaHei"/>
                <a:ea typeface="Microsoft YaHei"/>
              </a:rPr>
              <a:t>图 6 ｜ </a:t>
            </a:r>
            <a:r>
              <a:rPr sz="1100" b="0" i="0">
                <a:solidFill>
                  <a:srgbClr val="5E6E80"/>
                </a:solidFill>
                <a:latin typeface="Microsoft YaHei"/>
                <a:ea typeface="Microsoft YaHei"/>
              </a:rPr>
              <a:t>结构条件控制生成 · 源：ControlNet [12]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20440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3D74"/>
                </a:solidFill>
                <a:latin typeface="Microsoft YaHei"/>
                <a:ea typeface="Microsoft YaHei"/>
              </a:rPr>
              <a:t>研究谱系 2020 → 2026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315968"/>
            <a:ext cx="5120640" cy="0"/>
          </a:xfrm>
          <a:prstGeom prst="line">
            <a:avLst/>
          </a:prstGeom>
          <a:ln w="17780">
            <a:solidFill>
              <a:srgbClr val="6E93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85800" y="4265676"/>
            <a:ext cx="100584" cy="100584"/>
          </a:xfrm>
          <a:prstGeom prst="ellipse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182879" y="393192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1">
                <a:solidFill>
                  <a:srgbClr val="B9743A"/>
                </a:solidFill>
                <a:latin typeface="Times New Roman"/>
                <a:ea typeface="Microsoft YaHei"/>
              </a:rPr>
              <a:t>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" y="4462272"/>
            <a:ext cx="1426464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E6E80"/>
                </a:solidFill>
                <a:latin typeface="Microsoft YaHei"/>
                <a:ea typeface="Microsoft YaHei"/>
              </a:rPr>
              <a:t>DoveNet
iHarmony4 [13]</a:t>
            </a:r>
          </a:p>
        </p:txBody>
      </p:sp>
      <p:sp>
        <p:nvSpPr>
          <p:cNvPr id="17" name="Oval 16"/>
          <p:cNvSpPr/>
          <p:nvPr/>
        </p:nvSpPr>
        <p:spPr>
          <a:xfrm>
            <a:off x="2103120" y="4265676"/>
            <a:ext cx="100584" cy="100584"/>
          </a:xfrm>
          <a:prstGeom prst="ellipse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1600199" y="393192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1">
                <a:solidFill>
                  <a:srgbClr val="B9743A"/>
                </a:solidFill>
                <a:latin typeface="Times New Roman"/>
                <a:ea typeface="Microsoft YaHei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1" y="4462272"/>
            <a:ext cx="1426464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 dirty="0">
                <a:solidFill>
                  <a:srgbClr val="5E6E80"/>
                </a:solidFill>
                <a:latin typeface="Microsoft YaHei"/>
                <a:ea typeface="Microsoft YaHei"/>
              </a:rPr>
              <a:t>Paint-by-Example
[15]</a:t>
            </a:r>
          </a:p>
        </p:txBody>
      </p:sp>
      <p:sp>
        <p:nvSpPr>
          <p:cNvPr id="20" name="Oval 19"/>
          <p:cNvSpPr/>
          <p:nvPr/>
        </p:nvSpPr>
        <p:spPr>
          <a:xfrm>
            <a:off x="3611880" y="4265676"/>
            <a:ext cx="100584" cy="100584"/>
          </a:xfrm>
          <a:prstGeom prst="ellipse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3108960" y="393192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1">
                <a:solidFill>
                  <a:srgbClr val="B9743A"/>
                </a:solidFill>
                <a:latin typeface="Times New Roman"/>
                <a:ea typeface="Microsoft YaHei"/>
              </a:rPr>
              <a:t>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3512" y="4462272"/>
            <a:ext cx="1426464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E6E80"/>
                </a:solidFill>
                <a:latin typeface="Microsoft YaHei"/>
                <a:ea typeface="Microsoft YaHei"/>
              </a:rPr>
              <a:t>IC-Light [20] · AnyDoor
SwitchLight [21]</a:t>
            </a:r>
          </a:p>
        </p:txBody>
      </p:sp>
      <p:sp>
        <p:nvSpPr>
          <p:cNvPr id="23" name="Oval 22"/>
          <p:cNvSpPr/>
          <p:nvPr/>
        </p:nvSpPr>
        <p:spPr>
          <a:xfrm>
            <a:off x="5074920" y="4265676"/>
            <a:ext cx="100584" cy="100584"/>
          </a:xfrm>
          <a:prstGeom prst="ellipse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4572000" y="393192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1">
                <a:solidFill>
                  <a:srgbClr val="B9743A"/>
                </a:solidFill>
                <a:latin typeface="Times New Roman"/>
                <a:ea typeface="Microsoft YaHei"/>
              </a:rPr>
              <a:t>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462272"/>
            <a:ext cx="1426464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E6E80"/>
                </a:solidFill>
                <a:latin typeface="Microsoft YaHei"/>
                <a:ea typeface="Microsoft YaHei"/>
              </a:rPr>
              <a:t>CoShadow [23]
物理推理阴影 [24]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94960"/>
            <a:ext cx="5577840" cy="969264"/>
          </a:xfrm>
          <a:prstGeom prst="roundRect">
            <a:avLst>
              <a:gd name="adj" fmla="val 8000"/>
            </a:avLst>
          </a:prstGeom>
          <a:solidFill>
            <a:srgbClr val="FBF6F0"/>
          </a:solidFill>
          <a:ln w="11430">
            <a:solidFill>
              <a:srgbClr val="B97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5504688"/>
            <a:ext cx="5303520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 dirty="0" err="1">
                <a:solidFill>
                  <a:srgbClr val="B9743A"/>
                </a:solidFill>
                <a:latin typeface="Microsoft YaHei"/>
                <a:ea typeface="Microsoft YaHei"/>
              </a:rPr>
              <a:t>公认难点：</a:t>
            </a:r>
            <a:r>
              <a:rPr sz="1200" b="0" i="0" dirty="0" err="1">
                <a:solidFill>
                  <a:srgbClr val="22303F"/>
                </a:solidFill>
                <a:latin typeface="Microsoft YaHei"/>
                <a:ea typeface="Microsoft YaHei"/>
              </a:rPr>
              <a:t>孤立的外观和谐化已较成熟</a:t>
            </a:r>
            <a:r>
              <a:rPr sz="1200" b="0" i="0" dirty="0">
                <a:solidFill>
                  <a:srgbClr val="22303F"/>
                </a:solidFill>
                <a:latin typeface="Microsoft YaHei"/>
                <a:ea typeface="Microsoft YaHei"/>
              </a:rPr>
              <a:t>，「</a:t>
            </a:r>
            <a:r>
              <a:rPr sz="1200" b="0" i="0" dirty="0" err="1">
                <a:solidFill>
                  <a:srgbClr val="22303F"/>
                </a:solidFill>
                <a:latin typeface="Microsoft YaHei"/>
                <a:ea typeface="Microsoft YaHei"/>
              </a:rPr>
              <a:t>光照</a:t>
            </a:r>
            <a:r>
              <a:rPr sz="1200" b="0" i="0" dirty="0">
                <a:solidFill>
                  <a:srgbClr val="22303F"/>
                </a:solidFill>
                <a:latin typeface="Microsoft YaHei"/>
                <a:ea typeface="Microsoft YaHei"/>
              </a:rPr>
              <a:t> + </a:t>
            </a:r>
            <a:r>
              <a:rPr sz="1200" b="0" i="0" dirty="0" err="1">
                <a:solidFill>
                  <a:srgbClr val="22303F"/>
                </a:solidFill>
                <a:latin typeface="Microsoft YaHei"/>
                <a:ea typeface="Microsoft YaHei"/>
              </a:rPr>
              <a:t>阴影</a:t>
            </a:r>
            <a:r>
              <a:rPr sz="1200" b="0" i="0" dirty="0">
                <a:solidFill>
                  <a:srgbClr val="22303F"/>
                </a:solidFill>
                <a:latin typeface="Microsoft YaHei"/>
                <a:ea typeface="Microsoft YaHei"/>
              </a:rPr>
              <a:t> + </a:t>
            </a:r>
            <a:r>
              <a:rPr sz="1200" b="0" i="0" dirty="0" err="1">
                <a:solidFill>
                  <a:srgbClr val="22303F"/>
                </a:solidFill>
                <a:latin typeface="Microsoft YaHei"/>
                <a:ea typeface="Microsoft YaHei"/>
              </a:rPr>
              <a:t>几何」联合一致的合成仍无成熟方案</a:t>
            </a:r>
            <a:endParaRPr sz="1200" b="0" i="0" dirty="0">
              <a:solidFill>
                <a:srgbClr val="22303F"/>
              </a:solidFill>
              <a:latin typeface="Microsoft YaHei"/>
              <a:ea typeface="Microsoft YaHe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0" y="1353312"/>
            <a:ext cx="5285232" cy="11704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1353312"/>
            <a:ext cx="54864" cy="1170432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1463040"/>
            <a:ext cx="4919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2A5DA8"/>
                </a:solidFill>
                <a:latin typeface="Microsoft YaHei"/>
                <a:ea typeface="Microsoft YaHei"/>
              </a:rPr>
              <a:t>传统和谐化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792224"/>
            <a:ext cx="491947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DoveNet 域验证 [13] · Harmonizer 白盒 [14] · StructFuse / H-CDM / DGFNet [17-19]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688336"/>
            <a:ext cx="5285232" cy="11704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2688336"/>
            <a:ext cx="54864" cy="1170432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2798064"/>
            <a:ext cx="4919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2A5DA8"/>
                </a:solidFill>
                <a:latin typeface="Microsoft YaHei"/>
                <a:ea typeface="Microsoft YaHei"/>
              </a:rPr>
              <a:t>生成式合成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127248"/>
            <a:ext cx="491947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Paint-by-Example [15] · AnyDoor 零样本 [16] · ControlNet 结构控制 [12]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023360"/>
            <a:ext cx="5285232" cy="11704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0" y="4023360"/>
            <a:ext cx="54864" cy="1170432"/>
          </a:xfrm>
          <a:prstGeom prst="rect">
            <a:avLst/>
          </a:prstGeom>
          <a:solidFill>
            <a:srgbClr val="B9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4133088"/>
            <a:ext cx="49194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B9743A"/>
                </a:solidFill>
                <a:latin typeface="Microsoft YaHei"/>
                <a:ea typeface="Microsoft YaHei"/>
              </a:rPr>
              <a:t>重打光与阴影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462272"/>
            <a:ext cx="491947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IC-Light 潜空间一致 [20] · SwitchLight 物理 [21] · CoShadow 多物体 [23]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394960"/>
            <a:ext cx="5285232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1" name="TextBox 40"/>
          <p:cNvSpPr txBox="1"/>
          <p:nvPr/>
        </p:nvSpPr>
        <p:spPr>
          <a:xfrm>
            <a:off x="6583680" y="5504688"/>
            <a:ext cx="4919472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F3D74"/>
                </a:solidFill>
                <a:latin typeface="Microsoft YaHei"/>
                <a:ea typeface="Microsoft YaHei"/>
              </a:rPr>
              <a:t>对本课题启示  </a:t>
            </a: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各组件可独立复用，缺「光照一致性约束」将其组织为联合流水线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05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研究现状 ③ 指令式编辑与交互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RELATED WORK · EDITING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多轮断崖退化 · 语音交互空白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edi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3291840" cy="2289778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02920" y="368881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 dirty="0">
                <a:solidFill>
                  <a:srgbClr val="0F3D74"/>
                </a:solidFill>
                <a:latin typeface="Microsoft YaHei"/>
                <a:ea typeface="Microsoft YaHei"/>
              </a:rPr>
              <a:t>图 7 ｜ </a:t>
            </a:r>
            <a:r>
              <a:rPr sz="9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多轮编辑指令遵循得分</a:t>
            </a:r>
            <a:r>
              <a:rPr sz="9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据 </a:t>
            </a:r>
            <a:r>
              <a:rPr sz="9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EdiVal</a:t>
            </a:r>
            <a:r>
              <a:rPr sz="900" b="0" i="0" dirty="0">
                <a:solidFill>
                  <a:srgbClr val="5E6E80"/>
                </a:solidFill>
                <a:latin typeface="Microsoft YaHei"/>
                <a:ea typeface="Microsoft YaHei"/>
              </a:rPr>
              <a:t>-Agent [27] </a:t>
            </a:r>
            <a:r>
              <a:rPr sz="9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自绘</a:t>
            </a:r>
            <a:endParaRPr sz="900" b="0" i="0" dirty="0">
              <a:solidFill>
                <a:srgbClr val="5E6E80"/>
              </a:solidFill>
              <a:latin typeface="Microsoft YaHei"/>
              <a:ea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4023360"/>
            <a:ext cx="3291840" cy="1133856"/>
          </a:xfrm>
          <a:prstGeom prst="roundRect">
            <a:avLst>
              <a:gd name="adj" fmla="val 8000"/>
            </a:avLst>
          </a:prstGeom>
          <a:solidFill>
            <a:srgbClr val="FDF4F2"/>
          </a:solidFill>
          <a:ln w="10795">
            <a:solidFill>
              <a:srgbClr val="A94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4114800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A94A3F"/>
                </a:solidFill>
                <a:latin typeface="Microsoft YaHei"/>
                <a:ea typeface="Microsoft YaHei"/>
              </a:rPr>
              <a:t>断崖式退化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425696"/>
            <a:ext cx="2962656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开源最强 Qwen-Image-Edit：第 1→3 轮 72.90 → 22.55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321809"/>
            <a:ext cx="3291840" cy="104241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5431536"/>
            <a:ext cx="2962656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MT-EditFlow [28] 强化学习微调仅小幅缓解 → 需交互机制层面创新</a:t>
            </a:r>
          </a:p>
        </p:txBody>
      </p:sp>
      <p:pic>
        <p:nvPicPr>
          <p:cNvPr id="17" name="Picture 16" descr="crop_ip2p_mul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353312"/>
            <a:ext cx="3931920" cy="315422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4160520" y="455325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8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多轮连续指令编辑示例 · 源：InstructPix2Pix [25]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4937760"/>
            <a:ext cx="393192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5112" y="5047488"/>
            <a:ext cx="3602736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0F3D74"/>
                </a:solidFill>
                <a:latin typeface="Microsoft YaHei"/>
                <a:ea typeface="Microsoft YaHei"/>
              </a:rPr>
              <a:t>开源模型快速逼近闭源：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Qwen-Image / Step1X / FLUX 系列已可执行单轮指令，瓶颈在多轮稳定性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1353312"/>
            <a:ext cx="3319272" cy="15544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795">
            <a:solidFill>
              <a:srgbClr val="A94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31352" y="1463040"/>
            <a:ext cx="29900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A94A3F"/>
                </a:solidFill>
                <a:latin typeface="Microsoft YaHei"/>
                <a:ea typeface="Microsoft YaHei"/>
              </a:rPr>
              <a:t>DOWIS [29]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1792224"/>
            <a:ext cx="299008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语音指令遵循数据集：语音输入一致劣于文本，低资源语言差距更大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3072384"/>
            <a:ext cx="3319272" cy="15544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795">
            <a:solidFill>
              <a:srgbClr val="2A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31352" y="3182112"/>
            <a:ext cx="29900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A5DA8"/>
                </a:solidFill>
                <a:latin typeface="Microsoft YaHei"/>
                <a:ea typeface="Microsoft YaHei"/>
              </a:rPr>
              <a:t>TalkSketchD [30]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3511296"/>
            <a:ext cx="299008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自发语音 + 视觉指代联合输入，显著提升与设计意图对齐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4791456"/>
            <a:ext cx="3319272" cy="1554480"/>
          </a:xfrm>
          <a:prstGeom prst="roundRect">
            <a:avLst>
              <a:gd name="adj" fmla="val 8000"/>
            </a:avLst>
          </a:prstGeom>
          <a:solidFill>
            <a:srgbClr val="FBF6F0"/>
          </a:solidFill>
          <a:ln w="10795">
            <a:solidFill>
              <a:srgbClr val="B97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31352" y="4901184"/>
            <a:ext cx="29900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B9743A"/>
                </a:solidFill>
                <a:latin typeface="Microsoft YaHei"/>
                <a:ea typeface="Microsoft YaHei"/>
              </a:rPr>
              <a:t>研究空白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5230368"/>
            <a:ext cx="299008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语音驱动的图像合成系统 · 面向中文的交互评测，均属空白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06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现存问题分析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三类问题 → 三项创新逐一回应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1316736"/>
            <a:ext cx="521208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79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316736"/>
            <a:ext cx="822960" cy="384048"/>
          </a:xfrm>
          <a:prstGeom prst="roundRect">
            <a:avLst>
              <a:gd name="adj" fmla="val 12000"/>
            </a:avLst>
          </a:prstGeom>
          <a:solidFill>
            <a:srgbClr val="A94A3F"/>
          </a:solidFill>
          <a:ln>
            <a:solidFill>
              <a:srgbClr val="A94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316736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问题一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137160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2303F"/>
                </a:solidFill>
                <a:latin typeface="Microsoft YaHei"/>
                <a:ea typeface="Microsoft YaHei"/>
              </a:rPr>
              <a:t>透明目标抠取精度骤降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1792224"/>
            <a:ext cx="49377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E6E80"/>
                </a:solidFill>
                <a:latin typeface="Microsoft YaHei"/>
                <a:ea typeface="Microsoft YaHei"/>
              </a:rPr>
              <a:t>玻璃·薄纱·婚纱 alpha 灰边断裂，与发丝场景差距一个数量级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48716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9743A"/>
                </a:solidFill>
                <a:latin typeface="Microsoft YaHei"/>
                <a:ea typeface="Microsoft YaHei"/>
              </a:rPr>
              <a:t>对应创新：域微调 + alpha 精修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017520"/>
            <a:ext cx="521208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79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" y="3017520"/>
            <a:ext cx="822960" cy="384048"/>
          </a:xfrm>
          <a:prstGeom prst="roundRect">
            <a:avLst>
              <a:gd name="adj" fmla="val 12000"/>
            </a:avLst>
          </a:prstGeom>
          <a:solidFill>
            <a:srgbClr val="A94A3F"/>
          </a:solidFill>
          <a:ln>
            <a:solidFill>
              <a:srgbClr val="A94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问题二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2184" y="3072384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2303F"/>
                </a:solidFill>
                <a:latin typeface="Microsoft YaHei"/>
                <a:ea typeface="Microsoft YaHei"/>
              </a:rPr>
              <a:t>合成结果「贴纸感」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3493008"/>
            <a:ext cx="49377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光照方向矛盾、接触阴影缺失；重打光与阴影被割裂研究</a:t>
            </a:r>
            <a:endParaRPr sz="1200" b="0" i="0" dirty="0">
              <a:solidFill>
                <a:srgbClr val="5E6E80"/>
              </a:solidFill>
              <a:latin typeface="Microsoft YaHei"/>
              <a:ea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" y="41879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9743A"/>
                </a:solidFill>
                <a:latin typeface="Microsoft YaHei"/>
                <a:ea typeface="Microsoft YaHei"/>
              </a:rPr>
              <a:t>对应创新：光照一致性联合框架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18304"/>
            <a:ext cx="521208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79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4718304"/>
            <a:ext cx="822960" cy="384048"/>
          </a:xfrm>
          <a:prstGeom prst="roundRect">
            <a:avLst>
              <a:gd name="adj" fmla="val 12000"/>
            </a:avLst>
          </a:prstGeom>
          <a:solidFill>
            <a:srgbClr val="A94A3F"/>
          </a:solidFill>
          <a:ln>
            <a:solidFill>
              <a:srgbClr val="A94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718304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问题三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4773168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2303F"/>
                </a:solidFill>
                <a:latin typeface="Microsoft YaHei"/>
                <a:ea typeface="Microsoft YaHei"/>
              </a:rPr>
              <a:t>多轮与语音交互退化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5193792"/>
            <a:ext cx="49377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E6E80"/>
                </a:solidFill>
                <a:latin typeface="Microsoft YaHei"/>
                <a:ea typeface="Microsoft YaHei"/>
              </a:rPr>
              <a:t>连续编辑性能断崖；语音可靠性不足；缺可回溯执行机制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" y="588873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9743A"/>
                </a:solidFill>
                <a:latin typeface="Microsoft YaHei"/>
                <a:ea typeface="Microsoft YaHei"/>
              </a:rPr>
              <a:t>对应创新：执行计划 DAG + 联合指代</a:t>
            </a:r>
          </a:p>
        </p:txBody>
      </p:sp>
      <p:pic>
        <p:nvPicPr>
          <p:cNvPr id="28" name="Picture 27" descr="crop_sam2_tea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53312"/>
            <a:ext cx="5650992" cy="1876936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6035040" y="3275968"/>
            <a:ext cx="56509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0F3D74"/>
                </a:solidFill>
                <a:latin typeface="Microsoft YaHei"/>
                <a:ea typeface="Microsoft YaHei"/>
              </a:rPr>
              <a:t>图 9 ｜ </a:t>
            </a:r>
            <a:r>
              <a:rPr sz="10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可提示视觉分割：任务</a:t>
            </a:r>
            <a:r>
              <a:rPr sz="10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</a:t>
            </a:r>
            <a:r>
              <a:rPr sz="10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模型</a:t>
            </a:r>
            <a:r>
              <a:rPr sz="10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</a:t>
            </a:r>
            <a:r>
              <a:rPr sz="10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数据</a:t>
            </a:r>
            <a:r>
              <a:rPr sz="10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</a:t>
            </a:r>
            <a:r>
              <a:rPr sz="10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源：SAM</a:t>
            </a:r>
            <a:r>
              <a:rPr sz="10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2 [7]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7200" y="3637279"/>
            <a:ext cx="56509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F3D74"/>
                </a:solidFill>
                <a:latin typeface="Microsoft YaHei"/>
                <a:ea typeface="Microsoft YaHei"/>
              </a:rPr>
              <a:t>问题 → 创新映射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041648"/>
            <a:ext cx="2606040" cy="621792"/>
          </a:xfrm>
          <a:prstGeom prst="roundRect">
            <a:avLst>
              <a:gd name="adj" fmla="val 10000"/>
            </a:avLst>
          </a:prstGeom>
          <a:solidFill>
            <a:srgbClr val="FDF4F2"/>
          </a:solidFill>
          <a:ln w="8890">
            <a:solidFill>
              <a:srgbClr val="A94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63055" y="4041648"/>
            <a:ext cx="235000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A94A3F"/>
                </a:solidFill>
                <a:latin typeface="Microsoft YaHei"/>
                <a:ea typeface="Microsoft YaHei"/>
              </a:rPr>
              <a:t>透明目标误差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041648"/>
            <a:ext cx="36576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9743A"/>
                </a:solidFill>
                <a:latin typeface="Times New Roman"/>
                <a:ea typeface="Microsoft YaHe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62288" y="4041648"/>
            <a:ext cx="2523744" cy="621792"/>
          </a:xfrm>
          <a:prstGeom prst="roundRect">
            <a:avLst>
              <a:gd name="adj" fmla="val 10000"/>
            </a:avLst>
          </a:prstGeom>
          <a:solidFill>
            <a:srgbClr val="F0F5F1"/>
          </a:solidFill>
          <a:ln w="8890">
            <a:solidFill>
              <a:srgbClr val="4E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90304" y="4041648"/>
            <a:ext cx="226771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E7C6B"/>
                </a:solidFill>
                <a:latin typeface="Microsoft YaHei"/>
                <a:ea typeface="Microsoft YaHei"/>
              </a:rPr>
              <a:t>域微调 + alpha 精修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4809744"/>
            <a:ext cx="2606040" cy="621792"/>
          </a:xfrm>
          <a:prstGeom prst="roundRect">
            <a:avLst>
              <a:gd name="adj" fmla="val 10000"/>
            </a:avLst>
          </a:prstGeom>
          <a:solidFill>
            <a:srgbClr val="FDF4F2"/>
          </a:solidFill>
          <a:ln w="8890">
            <a:solidFill>
              <a:srgbClr val="A94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63055" y="4809744"/>
            <a:ext cx="235000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A94A3F"/>
                </a:solidFill>
                <a:latin typeface="Microsoft YaHei"/>
                <a:ea typeface="Microsoft YaHei"/>
              </a:rPr>
              <a:t>贴纸感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4809744"/>
            <a:ext cx="36576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9743A"/>
                </a:solidFill>
                <a:latin typeface="Times New Roman"/>
                <a:ea typeface="Microsoft YaHe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62288" y="4809744"/>
            <a:ext cx="2523744" cy="621792"/>
          </a:xfrm>
          <a:prstGeom prst="roundRect">
            <a:avLst>
              <a:gd name="adj" fmla="val 10000"/>
            </a:avLst>
          </a:prstGeom>
          <a:solidFill>
            <a:srgbClr val="F0F5F1"/>
          </a:solidFill>
          <a:ln w="8890">
            <a:solidFill>
              <a:srgbClr val="4E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0304" y="4809744"/>
            <a:ext cx="226771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E7C6B"/>
                </a:solidFill>
                <a:latin typeface="Microsoft YaHei"/>
                <a:ea typeface="Microsoft YaHei"/>
              </a:rPr>
              <a:t>光照一致性联合建模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5577840"/>
            <a:ext cx="2606040" cy="621792"/>
          </a:xfrm>
          <a:prstGeom prst="roundRect">
            <a:avLst>
              <a:gd name="adj" fmla="val 10000"/>
            </a:avLst>
          </a:prstGeom>
          <a:solidFill>
            <a:srgbClr val="FDF4F2"/>
          </a:solidFill>
          <a:ln w="8890">
            <a:solidFill>
              <a:srgbClr val="A94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63055" y="5577840"/>
            <a:ext cx="235000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A94A3F"/>
                </a:solidFill>
                <a:latin typeface="Microsoft YaHei"/>
                <a:ea typeface="Microsoft YaHei"/>
              </a:rPr>
              <a:t>多轮退化 72.9→22.6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5577840"/>
            <a:ext cx="36576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9743A"/>
                </a:solidFill>
                <a:latin typeface="Times New Roman"/>
                <a:ea typeface="Microsoft YaHe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62288" y="5577840"/>
            <a:ext cx="2523744" cy="621792"/>
          </a:xfrm>
          <a:prstGeom prst="roundRect">
            <a:avLst>
              <a:gd name="adj" fmla="val 10000"/>
            </a:avLst>
          </a:prstGeom>
          <a:solidFill>
            <a:srgbClr val="F0F5F1"/>
          </a:solidFill>
          <a:ln w="8890">
            <a:solidFill>
              <a:srgbClr val="4E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90304" y="5577840"/>
            <a:ext cx="226771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4E7C6B"/>
                </a:solidFill>
                <a:latin typeface="Microsoft YaHei"/>
                <a:ea typeface="Microsoft YaHei"/>
              </a:rPr>
              <a:t>DAG 条件回滚机制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07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研究目标与研究内容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总目标可分解 · 指标可验证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go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9888"/>
            <a:ext cx="8138160" cy="4001148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02920" y="543675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dirty="0">
                <a:solidFill>
                  <a:srgbClr val="0F3D74"/>
                </a:solidFill>
                <a:latin typeface="Microsoft YaHei"/>
                <a:ea typeface="Microsoft YaHei"/>
              </a:rPr>
              <a:t>图 10 ｜ </a:t>
            </a:r>
            <a:r>
              <a:rPr sz="12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总目标</a:t>
            </a:r>
            <a:r>
              <a:rPr sz="12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→ </a:t>
            </a:r>
            <a:r>
              <a:rPr sz="12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三项量化目标</a:t>
            </a:r>
            <a:r>
              <a:rPr sz="12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→ </a:t>
            </a:r>
            <a:r>
              <a:rPr sz="12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四项研究内容映射（自绘</a:t>
            </a:r>
            <a:r>
              <a:rPr sz="1200" b="0" i="0" dirty="0">
                <a:solidFill>
                  <a:srgbClr val="5E6E80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389888"/>
            <a:ext cx="2770632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79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15400" y="1389888"/>
            <a:ext cx="2770632" cy="4572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9079992" y="1554480"/>
            <a:ext cx="244144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1">
                <a:solidFill>
                  <a:srgbClr val="2A5DA8"/>
                </a:solidFill>
                <a:latin typeface="Times New Roman"/>
                <a:ea typeface="Microsoft YaHei"/>
              </a:rPr>
              <a:t>≥ 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2103120"/>
            <a:ext cx="24414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2303F"/>
                </a:solidFill>
                <a:latin typeface="Microsoft YaHei"/>
                <a:ea typeface="Microsoft YaHei"/>
              </a:rPr>
              <a:t>抠取指标相对下降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2377440"/>
            <a:ext cx="24414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E6E80"/>
                </a:solidFill>
                <a:latin typeface="Microsoft YaHei"/>
                <a:ea typeface="Microsoft YaHei"/>
              </a:rPr>
              <a:t>SAD / Grad · 域微调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962656"/>
            <a:ext cx="2770632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79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Rectangle 17"/>
          <p:cNvSpPr/>
          <p:nvPr/>
        </p:nvSpPr>
        <p:spPr>
          <a:xfrm>
            <a:off x="8915400" y="2962656"/>
            <a:ext cx="2770632" cy="45720"/>
          </a:xfrm>
          <a:prstGeom prst="rect">
            <a:avLst/>
          </a:prstGeom>
          <a:solidFill>
            <a:srgbClr val="B9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9079992" y="3127248"/>
            <a:ext cx="244144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1">
                <a:solidFill>
                  <a:srgbClr val="B9743A"/>
                </a:solidFill>
                <a:latin typeface="Times New Roman"/>
                <a:ea typeface="Microsoft YaHei"/>
              </a:rPr>
              <a:t>≥ 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3675888"/>
            <a:ext cx="24414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2303F"/>
                </a:solidFill>
                <a:latin typeface="Microsoft YaHei"/>
                <a:ea typeface="Microsoft YaHei"/>
              </a:rPr>
              <a:t>工具调用计划准确率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950208"/>
            <a:ext cx="24414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E6E80"/>
                </a:solidFill>
                <a:latin typeface="Microsoft YaHei"/>
                <a:ea typeface="Microsoft YaHei"/>
              </a:rPr>
              <a:t>连续 5 轮编辑稳定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4535424"/>
            <a:ext cx="2770632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79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Rectangle 22"/>
          <p:cNvSpPr/>
          <p:nvPr/>
        </p:nvSpPr>
        <p:spPr>
          <a:xfrm>
            <a:off x="8915400" y="4535424"/>
            <a:ext cx="2770632" cy="45720"/>
          </a:xfrm>
          <a:prstGeom prst="rect">
            <a:avLst/>
          </a:prstGeom>
          <a:solidFill>
            <a:srgbClr val="4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/>
          <p:cNvSpPr txBox="1"/>
          <p:nvPr/>
        </p:nvSpPr>
        <p:spPr>
          <a:xfrm>
            <a:off x="9079992" y="4700016"/>
            <a:ext cx="244144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1">
                <a:solidFill>
                  <a:srgbClr val="4E7C6B"/>
                </a:solidFill>
                <a:latin typeface="Times New Roman"/>
                <a:ea typeface="Microsoft YaHei"/>
              </a:rPr>
              <a:t>≤ 10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5248656"/>
            <a:ext cx="24414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2303F"/>
                </a:solidFill>
                <a:latin typeface="Microsoft YaHei"/>
                <a:ea typeface="Microsoft YaHei"/>
              </a:rPr>
              <a:t>端到端响应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5522976"/>
            <a:ext cx="24414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E6E80"/>
                </a:solidFill>
                <a:latin typeface="Microsoft YaHei"/>
                <a:ea typeface="Microsoft YaHei"/>
              </a:rPr>
              <a:t>语音指令直达成片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08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研究方法与技术路线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METHODOLOGY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四层架构 · 光照一致性贯穿全流程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6144768" cy="4318776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02920" y="5736096"/>
            <a:ext cx="6144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dirty="0">
                <a:solidFill>
                  <a:srgbClr val="0F3D74"/>
                </a:solidFill>
                <a:latin typeface="Microsoft YaHei"/>
                <a:ea typeface="Microsoft YaHei"/>
              </a:rPr>
              <a:t>图 11 ｜ </a:t>
            </a:r>
            <a:r>
              <a:rPr sz="11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系统四层总体框架（自绘</a:t>
            </a:r>
            <a:r>
              <a:rPr sz="1100" b="0" i="0" dirty="0">
                <a:solidFill>
                  <a:srgbClr val="5E6E80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371600"/>
            <a:ext cx="4736592" cy="89611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6949440" y="1371600"/>
            <a:ext cx="54864" cy="896112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7132320" y="1426464"/>
            <a:ext cx="4370831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A5DA8"/>
                </a:solidFill>
                <a:latin typeface="Microsoft YaHei"/>
                <a:ea typeface="Microsoft YaHei"/>
              </a:rPr>
              <a:t>用户交互层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700784"/>
            <a:ext cx="4370831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语音指令 · 点击框选指代 · 风格参考图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377440"/>
            <a:ext cx="4736592" cy="89611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6949440" y="2377440"/>
            <a:ext cx="54864" cy="896112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7132320" y="2432304"/>
            <a:ext cx="4370831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A5DA8"/>
                </a:solidFill>
                <a:latin typeface="Microsoft YaHei"/>
                <a:ea typeface="Microsoft YaHei"/>
              </a:rPr>
              <a:t>Agent 智能体层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706624"/>
            <a:ext cx="4370831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规划器输出执行计划 DAG：可编辑 · 可回放 · 可条件重跑；VLM Critic 自评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3383280"/>
            <a:ext cx="4736592" cy="89611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Rectangle 20"/>
          <p:cNvSpPr/>
          <p:nvPr/>
        </p:nvSpPr>
        <p:spPr>
          <a:xfrm>
            <a:off x="6949440" y="3383280"/>
            <a:ext cx="54864" cy="896112"/>
          </a:xfrm>
          <a:prstGeom prst="rect">
            <a:avLst/>
          </a:prstGeom>
          <a:solidFill>
            <a:srgbClr val="B9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7132320" y="3438144"/>
            <a:ext cx="4370831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dirty="0" err="1">
                <a:solidFill>
                  <a:srgbClr val="B9743A"/>
                </a:solidFill>
                <a:latin typeface="Microsoft YaHei"/>
                <a:ea typeface="Microsoft YaHei"/>
              </a:rPr>
              <a:t>图像处理工具层</a:t>
            </a:r>
            <a:endParaRPr sz="1400" b="1" i="0" dirty="0">
              <a:solidFill>
                <a:srgbClr val="B9743A"/>
              </a:solidFill>
              <a:latin typeface="Microsoft YaHei"/>
              <a:ea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0" y="3712464"/>
            <a:ext cx="4370831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抠取 / 背景生成 / 光影融合 / 增强，8 个原子工具（课题核心）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4389120"/>
            <a:ext cx="4736592" cy="89611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Rectangle 24"/>
          <p:cNvSpPr/>
          <p:nvPr/>
        </p:nvSpPr>
        <p:spPr>
          <a:xfrm>
            <a:off x="6949440" y="4389120"/>
            <a:ext cx="54864" cy="896112"/>
          </a:xfrm>
          <a:prstGeom prst="rect">
            <a:avLst/>
          </a:prstGeom>
          <a:solidFill>
            <a:srgbClr val="4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7132320" y="4443984"/>
            <a:ext cx="4370831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4E7C6B"/>
                </a:solidFill>
                <a:latin typeface="Microsoft YaHei"/>
                <a:ea typeface="Microsoft YaHei"/>
              </a:rPr>
              <a:t>数据与轻量训练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718304"/>
            <a:ext cx="4370831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域微调 · LoRA · 短任务断点续训 · 权重热更新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5431536"/>
            <a:ext cx="4736592" cy="1042415"/>
          </a:xfrm>
          <a:prstGeom prst="roundRect">
            <a:avLst>
              <a:gd name="adj" fmla="val 8000"/>
            </a:avLst>
          </a:prstGeom>
          <a:solidFill>
            <a:srgbClr val="FBF6F0"/>
          </a:solidFill>
          <a:ln w="10795">
            <a:solidFill>
              <a:srgbClr val="B97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/>
          <p:cNvSpPr txBox="1"/>
          <p:nvPr/>
        </p:nvSpPr>
        <p:spPr>
          <a:xfrm>
            <a:off x="7132320" y="5513832"/>
            <a:ext cx="437083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B9743A"/>
                </a:solidFill>
                <a:latin typeface="Microsoft YaHei"/>
                <a:ea typeface="Microsoft YaHei"/>
              </a:rPr>
              <a:t>工程保障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797296"/>
            <a:ext cx="437083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· 草稿 / 精修两级出图，控制延迟    · 生成不稳 → 程序化降级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· JSON Schema 强校验，约束规划器自由度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09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核心创新点 ·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CORE INNOVATIONS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四项创新回应三类现存问题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1316736"/>
            <a:ext cx="2724912" cy="21579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079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502920" y="1316736"/>
            <a:ext cx="2724912" cy="45720"/>
          </a:xfrm>
          <a:prstGeom prst="rect">
            <a:avLst/>
          </a:prstGeom>
          <a:solidFill>
            <a:srgbClr val="B9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49224" y="1426464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1">
                <a:solidFill>
                  <a:srgbClr val="B9743A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1865376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0F3D74"/>
                </a:solidFill>
                <a:latin typeface="Microsoft YaHei"/>
                <a:ea typeface="Microsoft YaHei"/>
              </a:rPr>
              <a:t>光影一致性联合框架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432304"/>
            <a:ext cx="243230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5E6E80"/>
                </a:solidFill>
                <a:latin typeface="Microsoft YaHei"/>
                <a:ea typeface="Microsoft YaHei"/>
              </a:rPr>
              <a:t>抠取—重打光—阴影—和谐化统一流水线，量化评分闭环验收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3182112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E80"/>
                </a:solidFill>
                <a:latin typeface="Microsoft YaHei"/>
                <a:ea typeface="Microsoft YaHei"/>
              </a:rPr>
              <a:t>依据 </a:t>
            </a:r>
            <a:r>
              <a:rPr sz="1000" b="1" i="0">
                <a:solidFill>
                  <a:srgbClr val="B9743A"/>
                </a:solidFill>
                <a:latin typeface="Times New Roman"/>
                <a:ea typeface="Microsoft YaHei"/>
              </a:rPr>
              <a:t>[20][23][24]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1316736"/>
            <a:ext cx="2724912" cy="21579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079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ectangle 16"/>
          <p:cNvSpPr/>
          <p:nvPr/>
        </p:nvSpPr>
        <p:spPr>
          <a:xfrm>
            <a:off x="3319272" y="1316736"/>
            <a:ext cx="2724912" cy="4572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3465576" y="1426464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1">
                <a:solidFill>
                  <a:srgbClr val="2A5DA8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1865376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0F3D74"/>
                </a:solidFill>
                <a:latin typeface="Microsoft YaHei"/>
                <a:ea typeface="Microsoft YaHei"/>
              </a:rPr>
              <a:t>语音 + 空间指代交互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2432304"/>
            <a:ext cx="243230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5E6E80"/>
                </a:solidFill>
                <a:latin typeface="Microsoft YaHei"/>
                <a:ea typeface="Microsoft YaHei"/>
              </a:rPr>
              <a:t>中文语音与点击 / 框选联合消解指代，突破纯文本局限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3182112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E80"/>
                </a:solidFill>
                <a:latin typeface="Microsoft YaHei"/>
                <a:ea typeface="Microsoft YaHei"/>
              </a:rPr>
              <a:t>依据 </a:t>
            </a:r>
            <a:r>
              <a:rPr sz="1000" b="1" i="0">
                <a:solidFill>
                  <a:srgbClr val="2A5DA8"/>
                </a:solidFill>
                <a:latin typeface="Times New Roman"/>
                <a:ea typeface="Microsoft YaHei"/>
              </a:rPr>
              <a:t>[25][29][30]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1316736"/>
            <a:ext cx="2724912" cy="21579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079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Rectangle 22"/>
          <p:cNvSpPr/>
          <p:nvPr/>
        </p:nvSpPr>
        <p:spPr>
          <a:xfrm>
            <a:off x="6135624" y="1316736"/>
            <a:ext cx="2724912" cy="4572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6281928" y="1426464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1">
                <a:solidFill>
                  <a:srgbClr val="2A5DA8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1865376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0F3D74"/>
                </a:solidFill>
                <a:latin typeface="Microsoft YaHei"/>
                <a:ea typeface="Microsoft YaHei"/>
              </a:rPr>
              <a:t>执行计划 DAG 多轮机制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2432304"/>
            <a:ext cx="243230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5E6E80"/>
                </a:solidFill>
                <a:latin typeface="Microsoft YaHei"/>
                <a:ea typeface="Microsoft YaHei"/>
              </a:rPr>
              <a:t>可编辑、可回放、可条件重跑，细粒度条件回滚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3182112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E80"/>
                </a:solidFill>
                <a:latin typeface="Microsoft YaHei"/>
                <a:ea typeface="Microsoft YaHei"/>
              </a:rPr>
              <a:t>依据 </a:t>
            </a:r>
            <a:r>
              <a:rPr sz="1000" b="1" i="0">
                <a:solidFill>
                  <a:srgbClr val="2A5DA8"/>
                </a:solidFill>
                <a:latin typeface="Times New Roman"/>
                <a:ea typeface="Microsoft YaHei"/>
              </a:rPr>
              <a:t>[27][28]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1976" y="1316736"/>
            <a:ext cx="2724912" cy="21579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079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ectangle 28"/>
          <p:cNvSpPr/>
          <p:nvPr/>
        </p:nvSpPr>
        <p:spPr>
          <a:xfrm>
            <a:off x="8951976" y="1316736"/>
            <a:ext cx="2724912" cy="45720"/>
          </a:xfrm>
          <a:prstGeom prst="rect">
            <a:avLst/>
          </a:prstGeom>
          <a:solidFill>
            <a:srgbClr val="4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9098280" y="1426464"/>
            <a:ext cx="9144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1">
                <a:solidFill>
                  <a:srgbClr val="4E7C6B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1865376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0F3D74"/>
                </a:solidFill>
                <a:latin typeface="Microsoft YaHei"/>
                <a:ea typeface="Microsoft YaHei"/>
              </a:rPr>
              <a:t>训练—推理解耦方案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432304"/>
            <a:ext cx="243230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5E6E80"/>
                </a:solidFill>
                <a:latin typeface="Microsoft YaHei"/>
                <a:ea typeface="Microsoft YaHei"/>
              </a:rPr>
              <a:t>短任务 + 断点续训 + LoRA，不稳定算力稳定产出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182112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E6E80"/>
                </a:solidFill>
                <a:latin typeface="Microsoft YaHei"/>
                <a:ea typeface="Microsoft YaHei"/>
              </a:rPr>
              <a:t>依据 </a:t>
            </a:r>
            <a:r>
              <a:rPr sz="1000" b="1" i="0">
                <a:solidFill>
                  <a:srgbClr val="4E7C6B"/>
                </a:solidFill>
                <a:latin typeface="Times New Roman"/>
                <a:ea typeface="Microsoft YaHei"/>
              </a:rPr>
              <a:t>工程创新</a:t>
            </a:r>
          </a:p>
        </p:txBody>
      </p:sp>
      <p:pic>
        <p:nvPicPr>
          <p:cNvPr id="34" name="Picture 33" descr="fig_jointlight.png"/>
          <p:cNvPicPr>
            <a:picLocks noChangeAspect="1"/>
          </p:cNvPicPr>
          <p:nvPr/>
        </p:nvPicPr>
        <p:blipFill>
          <a:blip r:embed="rId3"/>
          <a:srcRect t="4498"/>
          <a:stretch>
            <a:fillRect/>
          </a:stretch>
        </p:blipFill>
        <p:spPr>
          <a:xfrm>
            <a:off x="411480" y="3508058"/>
            <a:ext cx="6609080" cy="2691574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502920" y="6062472"/>
            <a:ext cx="70591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0F3D74"/>
                </a:solidFill>
                <a:latin typeface="Microsoft YaHei"/>
                <a:ea typeface="Microsoft YaHei"/>
              </a:rPr>
              <a:t>图 12 ｜ </a:t>
            </a:r>
            <a:r>
              <a:rPr sz="10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孤立处理（上）vs</a:t>
            </a:r>
            <a:r>
              <a:rPr sz="10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</a:t>
            </a:r>
            <a:r>
              <a:rPr sz="10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光照一致性联合建模（下</a:t>
            </a:r>
            <a:r>
              <a:rPr sz="1000" b="0" i="0" dirty="0">
                <a:solidFill>
                  <a:srgbClr val="5E6E80"/>
                </a:solidFill>
                <a:latin typeface="Microsoft YaHei"/>
                <a:ea typeface="Microsoft YaHei"/>
              </a:rPr>
              <a:t>）（</a:t>
            </a:r>
            <a:r>
              <a:rPr sz="10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自绘</a:t>
            </a:r>
            <a:r>
              <a:rPr sz="1000" b="0" i="0" dirty="0">
                <a:solidFill>
                  <a:srgbClr val="5E6E80"/>
                </a:solidFill>
                <a:latin typeface="Microsoft YaHei"/>
                <a:ea typeface="Microsoft YaHei"/>
              </a:rPr>
              <a:t>）</a:t>
            </a:r>
          </a:p>
        </p:txBody>
      </p:sp>
      <p:pic>
        <p:nvPicPr>
          <p:cNvPr id="36" name="Picture 35" descr="crop_vitmatte_pi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550" y="3562924"/>
            <a:ext cx="4579482" cy="2374770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818120" y="5983413"/>
            <a:ext cx="38679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F3D74"/>
                </a:solidFill>
                <a:latin typeface="Microsoft YaHei"/>
                <a:ea typeface="Microsoft YaHei"/>
              </a:rPr>
              <a:t>图 13 ｜ </a:t>
            </a:r>
            <a:r>
              <a:rPr sz="1000" b="0" i="0">
                <a:solidFill>
                  <a:srgbClr val="5E6E80"/>
                </a:solidFill>
                <a:latin typeface="Microsoft YaHei"/>
                <a:ea typeface="Microsoft YaHei"/>
              </a:rPr>
              <a:t>抠取—合成原理 · 源：ViTMatte [4]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291072"/>
            <a:ext cx="1118311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 dirty="0" err="1">
                <a:solidFill>
                  <a:srgbClr val="5E6E80"/>
                </a:solidFill>
                <a:latin typeface="Microsoft YaHei"/>
                <a:ea typeface="Microsoft YaHei"/>
              </a:rPr>
              <a:t>参考文献（节选</a:t>
            </a:r>
            <a:r>
              <a:rPr sz="800" b="1" i="0" dirty="0">
                <a:solidFill>
                  <a:srgbClr val="5E6E80"/>
                </a:solidFill>
                <a:latin typeface="Microsoft YaHei"/>
                <a:ea typeface="Microsoft YaHei"/>
              </a:rPr>
              <a:t>）：</a:t>
            </a:r>
            <a:r>
              <a:rPr sz="80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[20] </a:t>
            </a:r>
            <a:r>
              <a:rPr sz="800" b="0" i="0" dirty="0">
                <a:solidFill>
                  <a:srgbClr val="5E6E80"/>
                </a:solidFill>
                <a:latin typeface="Times New Roman"/>
                <a:ea typeface="Microsoft YaHei"/>
              </a:rPr>
              <a:t>IC-Light   </a:t>
            </a:r>
            <a:r>
              <a:rPr sz="80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[23] </a:t>
            </a:r>
            <a:r>
              <a:rPr sz="800" b="0" i="0" dirty="0" err="1">
                <a:solidFill>
                  <a:srgbClr val="5E6E80"/>
                </a:solidFill>
                <a:latin typeface="Times New Roman"/>
                <a:ea typeface="Microsoft YaHei"/>
              </a:rPr>
              <a:t>CoShadow</a:t>
            </a:r>
            <a:r>
              <a:rPr sz="800" b="0" i="0" dirty="0">
                <a:solidFill>
                  <a:srgbClr val="5E6E80"/>
                </a:solidFill>
                <a:latin typeface="Times New Roman"/>
                <a:ea typeface="Microsoft YaHei"/>
              </a:rPr>
              <a:t>   </a:t>
            </a:r>
            <a:r>
              <a:rPr sz="80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[24] </a:t>
            </a:r>
            <a:r>
              <a:rPr sz="800" b="0" i="0" dirty="0" err="1">
                <a:solidFill>
                  <a:srgbClr val="5E6E80"/>
                </a:solidFill>
                <a:latin typeface="Times New Roman"/>
                <a:ea typeface="Microsoft YaHei"/>
              </a:rPr>
              <a:t>物理推理阴影</a:t>
            </a:r>
            <a:r>
              <a:rPr sz="800" b="0" i="0" dirty="0">
                <a:solidFill>
                  <a:srgbClr val="5E6E80"/>
                </a:solidFill>
                <a:latin typeface="Times New Roman"/>
                <a:ea typeface="Microsoft YaHei"/>
              </a:rPr>
              <a:t>   </a:t>
            </a:r>
            <a:r>
              <a:rPr sz="80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[25] </a:t>
            </a:r>
            <a:r>
              <a:rPr sz="800" b="0" i="0" dirty="0">
                <a:solidFill>
                  <a:srgbClr val="5E6E80"/>
                </a:solidFill>
                <a:latin typeface="Times New Roman"/>
                <a:ea typeface="Microsoft YaHei"/>
              </a:rPr>
              <a:t>InstructPix2Pix   </a:t>
            </a:r>
            <a:r>
              <a:rPr sz="80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[27] </a:t>
            </a:r>
            <a:r>
              <a:rPr sz="800" b="0" i="0" dirty="0" err="1">
                <a:solidFill>
                  <a:srgbClr val="5E6E80"/>
                </a:solidFill>
                <a:latin typeface="Times New Roman"/>
                <a:ea typeface="Microsoft YaHei"/>
              </a:rPr>
              <a:t>EdiVal</a:t>
            </a:r>
            <a:r>
              <a:rPr sz="800" b="0" i="0" dirty="0">
                <a:solidFill>
                  <a:srgbClr val="5E6E80"/>
                </a:solidFill>
                <a:latin typeface="Times New Roman"/>
                <a:ea typeface="Microsoft YaHei"/>
              </a:rPr>
              <a:t>-Agent   </a:t>
            </a:r>
            <a:r>
              <a:rPr sz="80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[29] </a:t>
            </a:r>
            <a:r>
              <a:rPr sz="800" b="0" i="0" dirty="0">
                <a:solidFill>
                  <a:srgbClr val="5E6E80"/>
                </a:solidFill>
                <a:latin typeface="Times New Roman"/>
                <a:ea typeface="Microsoft YaHei"/>
              </a:rPr>
              <a:t>DOWIS   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10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创新 ① 光影一致性联合框架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INNOVATION · JOINT RELIGHTING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环境光 → 重打光 → 阴影 → 匹配 → 评分闭环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1353312"/>
            <a:ext cx="3749039" cy="841248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0160">
            <a:solidFill>
              <a:srgbClr val="2A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1" name="TextBox 10"/>
          <p:cNvSpPr txBox="1"/>
          <p:nvPr/>
        </p:nvSpPr>
        <p:spPr>
          <a:xfrm>
            <a:off x="649224" y="1426464"/>
            <a:ext cx="4572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1">
                <a:solidFill>
                  <a:srgbClr val="2A5DA8"/>
                </a:solidFill>
                <a:latin typeface="Times New Roman"/>
                <a:ea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144475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A5DA8"/>
                </a:solidFill>
                <a:latin typeface="Microsoft YaHei"/>
                <a:ea typeface="Microsoft YaHei"/>
              </a:rPr>
              <a:t>背景环境光估计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1737360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E6E80"/>
                </a:solidFill>
                <a:latin typeface="Microsoft YaHei"/>
                <a:ea typeface="Microsoft YaHei"/>
              </a:rPr>
              <a:t>球谐基 / 方向光拟合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04288"/>
            <a:ext cx="3749039" cy="841248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0160">
            <a:solidFill>
              <a:srgbClr val="2A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5" name="TextBox 14"/>
          <p:cNvSpPr txBox="1"/>
          <p:nvPr/>
        </p:nvSpPr>
        <p:spPr>
          <a:xfrm>
            <a:off x="649224" y="2377440"/>
            <a:ext cx="4572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1">
                <a:solidFill>
                  <a:srgbClr val="2A5DA8"/>
                </a:solidFill>
                <a:latin typeface="Times New Roman"/>
                <a:ea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39572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A5DA8"/>
                </a:solidFill>
                <a:latin typeface="Microsoft YaHei"/>
                <a:ea typeface="Microsoft YaHei"/>
              </a:rPr>
              <a:t>前景重打光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688336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E6E80"/>
                </a:solidFill>
                <a:latin typeface="Microsoft YaHei"/>
                <a:ea typeface="Microsoft YaHei"/>
              </a:rPr>
              <a:t>借鉴 IC-Light 潜空间一致 [20]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55264"/>
            <a:ext cx="3749039" cy="841248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0160">
            <a:solidFill>
              <a:srgbClr val="2A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9" name="TextBox 18"/>
          <p:cNvSpPr txBox="1"/>
          <p:nvPr/>
        </p:nvSpPr>
        <p:spPr>
          <a:xfrm>
            <a:off x="649224" y="3328416"/>
            <a:ext cx="4572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1">
                <a:solidFill>
                  <a:srgbClr val="2A5DA8"/>
                </a:solidFill>
                <a:latin typeface="Times New Roman"/>
                <a:ea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346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A5DA8"/>
                </a:solidFill>
                <a:latin typeface="Microsoft YaHei"/>
                <a:ea typeface="Microsoft YaHei"/>
              </a:rPr>
              <a:t>接触阴影与反射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639312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E6E80"/>
                </a:solidFill>
                <a:latin typeface="Microsoft YaHei"/>
                <a:ea typeface="Microsoft YaHei"/>
              </a:rPr>
              <a:t>光源方向估计 + 几何锚定 [24]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206240"/>
            <a:ext cx="3749039" cy="841248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0160">
            <a:solidFill>
              <a:srgbClr val="2A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3" name="TextBox 22"/>
          <p:cNvSpPr txBox="1"/>
          <p:nvPr/>
        </p:nvSpPr>
        <p:spPr>
          <a:xfrm>
            <a:off x="649224" y="4279392"/>
            <a:ext cx="4572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1">
                <a:solidFill>
                  <a:srgbClr val="2A5DA8"/>
                </a:solidFill>
                <a:latin typeface="Times New Roman"/>
                <a:ea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297679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A5DA8"/>
                </a:solidFill>
                <a:latin typeface="Microsoft YaHei"/>
                <a:ea typeface="Microsoft YaHei"/>
              </a:rPr>
              <a:t>色彩·噪点·景深匹配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590288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E6E80"/>
                </a:solidFill>
                <a:latin typeface="Microsoft YaHei"/>
                <a:ea typeface="Microsoft YaHei"/>
              </a:rPr>
              <a:t>全局风格统一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57216"/>
            <a:ext cx="3749039" cy="841248"/>
          </a:xfrm>
          <a:prstGeom prst="roundRect">
            <a:avLst>
              <a:gd name="adj" fmla="val 9000"/>
            </a:avLst>
          </a:prstGeom>
          <a:solidFill>
            <a:srgbClr val="FBF6F0"/>
          </a:solidFill>
          <a:ln w="10160">
            <a:solidFill>
              <a:srgbClr val="B97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7" name="TextBox 26"/>
          <p:cNvSpPr txBox="1"/>
          <p:nvPr/>
        </p:nvSpPr>
        <p:spPr>
          <a:xfrm>
            <a:off x="649224" y="5230368"/>
            <a:ext cx="4572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1">
                <a:solidFill>
                  <a:srgbClr val="B9743A"/>
                </a:solidFill>
                <a:latin typeface="Times New Roman"/>
                <a:ea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5248655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B9743A"/>
                </a:solidFill>
                <a:latin typeface="Microsoft YaHei"/>
                <a:ea typeface="Microsoft YaHei"/>
              </a:rPr>
              <a:t>一致性评分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5541264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E6E80"/>
                </a:solidFill>
                <a:latin typeface="Microsoft YaHei"/>
                <a:ea typeface="Microsoft YaHei"/>
              </a:rPr>
              <a:t>光照/法线估计器量化，Critic 验收</a:t>
            </a:r>
          </a:p>
        </p:txBody>
      </p:sp>
      <p:pic>
        <p:nvPicPr>
          <p:cNvPr id="30" name="Picture 29" descr="crop_iclight_ban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353312"/>
            <a:ext cx="3931920" cy="923708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4526280" y="2322740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14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前景条件重打光 · 源：IC-Light [20]</a:t>
            </a:r>
          </a:p>
        </p:txBody>
      </p:sp>
      <p:pic>
        <p:nvPicPr>
          <p:cNvPr id="32" name="Picture 31" descr="fig_re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907792"/>
            <a:ext cx="3931920" cy="2735013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4526280" y="5688525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F3D74"/>
                </a:solidFill>
                <a:latin typeface="Microsoft YaHei"/>
                <a:ea typeface="Microsoft YaHei"/>
              </a:rPr>
              <a:t>图 15 ｜ </a:t>
            </a:r>
            <a:r>
              <a:rPr sz="1050" b="0" i="0">
                <a:solidFill>
                  <a:srgbClr val="5E6E80"/>
                </a:solidFill>
                <a:latin typeface="Microsoft YaHei"/>
                <a:ea typeface="Microsoft YaHei"/>
              </a:rPr>
              <a:t>重打光方法定量对比 · 据 [21][22] 公开数据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1353312"/>
            <a:ext cx="2953512" cy="15544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795">
            <a:solidFill>
              <a:srgbClr val="2A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5" name="TextBox 34"/>
          <p:cNvSpPr txBox="1"/>
          <p:nvPr/>
        </p:nvSpPr>
        <p:spPr>
          <a:xfrm>
            <a:off x="8897112" y="1463040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2A5DA8"/>
                </a:solidFill>
                <a:latin typeface="Microsoft YaHei"/>
                <a:ea typeface="Microsoft YaHei"/>
              </a:rPr>
              <a:t>对比基线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7112" y="1810512"/>
            <a:ext cx="262432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2303F"/>
                </a:solidFill>
                <a:latin typeface="Microsoft YaHei"/>
                <a:ea typeface="Microsoft YaHei"/>
              </a:rPr>
              <a:t>直接合成 · 仅和谐化 [13] · 仅重打光 [20]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32520" y="3072384"/>
            <a:ext cx="2953512" cy="15544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795">
            <a:solidFill>
              <a:srgbClr val="2A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8" name="TextBox 37"/>
          <p:cNvSpPr txBox="1"/>
          <p:nvPr/>
        </p:nvSpPr>
        <p:spPr>
          <a:xfrm>
            <a:off x="8897112" y="3182112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2A5DA8"/>
                </a:solidFill>
                <a:latin typeface="Microsoft YaHei"/>
                <a:ea typeface="Microsoft YaHei"/>
              </a:rPr>
              <a:t>客观指标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7112" y="3529584"/>
            <a:ext cx="262432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2303F"/>
                </a:solidFill>
                <a:latin typeface="Microsoft YaHei"/>
                <a:ea typeface="Microsoft YaHei"/>
              </a:rPr>
              <a:t>LPIPS / PSNR + 前后景光照一致性评分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32520" y="4791456"/>
            <a:ext cx="2953512" cy="1554480"/>
          </a:xfrm>
          <a:prstGeom prst="roundRect">
            <a:avLst>
              <a:gd name="adj" fmla="val 8000"/>
            </a:avLst>
          </a:prstGeom>
          <a:solidFill>
            <a:srgbClr val="FBF6F0"/>
          </a:solidFill>
          <a:ln w="10795">
            <a:solidFill>
              <a:srgbClr val="B97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41" name="TextBox 40"/>
          <p:cNvSpPr txBox="1"/>
          <p:nvPr/>
        </p:nvSpPr>
        <p:spPr>
          <a:xfrm>
            <a:off x="8897112" y="4901184"/>
            <a:ext cx="26243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B9743A"/>
                </a:solidFill>
                <a:latin typeface="Microsoft YaHei"/>
                <a:ea typeface="Microsoft YaHei"/>
              </a:rPr>
              <a:t>主观验证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7112" y="5248656"/>
            <a:ext cx="262432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2303F"/>
                </a:solidFill>
                <a:latin typeface="Microsoft YaHei"/>
                <a:ea typeface="Microsoft YaHei"/>
              </a:rPr>
              <a:t>用户研究 n ≥ 10：「贴纸感」评分显著降低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11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创新 ② 语音 + 空间指代交互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INNOVATION · MULTIMODAL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中文语音驱动 · 指代联合消解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inte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6903720" cy="2956267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02920" y="4373587"/>
            <a:ext cx="6903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16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语音 + 空间指代交互链路（自绘）</a:t>
            </a:r>
          </a:p>
        </p:txBody>
      </p:sp>
      <p:pic>
        <p:nvPicPr>
          <p:cNvPr id="12" name="Picture 11" descr="crop_sam2_pv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371600"/>
            <a:ext cx="4096512" cy="1480596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7589520" y="2897916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17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点击指代逐帧精修 · 源：SAM 2 [7]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401568"/>
            <a:ext cx="4096512" cy="1371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79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54112" y="3511296"/>
            <a:ext cx="37673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F3D74"/>
                </a:solidFill>
                <a:latin typeface="Microsoft YaHei"/>
                <a:ea typeface="Microsoft YaHei"/>
              </a:rPr>
              <a:t>文献依据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3822191"/>
            <a:ext cx="3767328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22303F"/>
                </a:solidFill>
                <a:latin typeface="Microsoft YaHei"/>
                <a:ea typeface="Microsoft YaHei"/>
              </a:rPr>
              <a:t>语音单输入劣于文本 [29]；语音 + 视觉指代联合显著提升意图对齐 [30]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38928"/>
            <a:ext cx="360273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5138928"/>
            <a:ext cx="3602736" cy="4572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528523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F3D74"/>
                </a:solidFill>
                <a:latin typeface="Microsoft YaHei"/>
                <a:ea typeface="Microsoft YaHei"/>
              </a:rPr>
              <a:t>联合指代消解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5632704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5E6E80"/>
                </a:solidFill>
                <a:latin typeface="Microsoft YaHei"/>
                <a:ea typeface="Microsoft YaHei"/>
              </a:rPr>
              <a:t>语义描述 + 屏幕坐标双通道定位目标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3107" y="5138928"/>
            <a:ext cx="360273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93107" y="5138928"/>
            <a:ext cx="3602736" cy="4572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7699" y="528523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F3D74"/>
                </a:solidFill>
                <a:latin typeface="Microsoft YaHei"/>
                <a:ea typeface="Microsoft YaHei"/>
              </a:rPr>
              <a:t>多轮上下文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7699" y="5632704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5E6E80"/>
                </a:solidFill>
                <a:latin typeface="Microsoft YaHei"/>
                <a:ea typeface="Microsoft YaHei"/>
              </a:rPr>
              <a:t>编辑历史树支持上下文继承与指代回溯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5138928"/>
            <a:ext cx="3602736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83296" y="5138928"/>
            <a:ext cx="3602736" cy="45720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528523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F3D74"/>
                </a:solidFill>
                <a:latin typeface="Microsoft YaHei"/>
                <a:ea typeface="Microsoft YaHei"/>
              </a:rPr>
              <a:t>全本地语音链路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5632704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5E6E80"/>
                </a:solidFill>
                <a:latin typeface="Microsoft YaHei"/>
                <a:ea typeface="Microsoft YaHei"/>
              </a:rPr>
              <a:t>流式 ASR + 端点检测 + TTS，隐私可控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12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创新 ③ 执行计划 DAG 稳定多轮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INNOVATION · PLAN-DAG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可编辑 · 可回放 · 可条件重跑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d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6675120" cy="2953099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02920" y="4370419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18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多轮编辑状态管理与条件回滚（自绘）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371600"/>
            <a:ext cx="4233672" cy="98755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52360" y="1371600"/>
            <a:ext cx="54864" cy="987552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1463040"/>
            <a:ext cx="386791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 i="0">
                <a:solidFill>
                  <a:srgbClr val="2A5DA8"/>
                </a:solidFill>
                <a:latin typeface="Microsoft YaHei"/>
                <a:ea typeface="Microsoft YaHei"/>
              </a:rPr>
              <a:t>Schema 强校验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755648"/>
            <a:ext cx="3867911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40" b="0" i="0">
                <a:solidFill>
                  <a:srgbClr val="22303F"/>
                </a:solidFill>
                <a:latin typeface="Microsoft YaHei"/>
                <a:ea typeface="Microsoft YaHei"/>
              </a:rPr>
              <a:t>统一 JSON Schema + 示例约束，限制规划器自由度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487168"/>
            <a:ext cx="4233672" cy="98755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2360" y="2487168"/>
            <a:ext cx="54864" cy="987552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2578608"/>
            <a:ext cx="386791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 i="0">
                <a:solidFill>
                  <a:srgbClr val="2A5DA8"/>
                </a:solidFill>
                <a:latin typeface="Microsoft YaHei"/>
                <a:ea typeface="Microsoft YaHei"/>
              </a:rPr>
              <a:t>程序化降级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871215"/>
            <a:ext cx="3867911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40" b="0" i="0">
                <a:solidFill>
                  <a:srgbClr val="22303F"/>
                </a:solidFill>
                <a:latin typeface="Microsoft YaHei"/>
                <a:ea typeface="Microsoft YaHei"/>
              </a:rPr>
              <a:t>生成不稳时回退色彩匹配 + 程序光效，保证可用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3602735"/>
            <a:ext cx="4233672" cy="98755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52360" y="3602735"/>
            <a:ext cx="54864" cy="987552"/>
          </a:xfrm>
          <a:prstGeom prst="rect">
            <a:avLst/>
          </a:prstGeom>
          <a:solidFill>
            <a:srgbClr val="B9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3694175"/>
            <a:ext cx="386791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 i="0">
                <a:solidFill>
                  <a:srgbClr val="B9743A"/>
                </a:solidFill>
                <a:latin typeface="Microsoft YaHei"/>
                <a:ea typeface="Microsoft YaHei"/>
              </a:rPr>
              <a:t>两级出图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986783"/>
            <a:ext cx="3867911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40" b="0" i="0">
                <a:solidFill>
                  <a:srgbClr val="22303F"/>
                </a:solidFill>
                <a:latin typeface="Microsoft YaHei"/>
                <a:ea typeface="Microsoft YaHei"/>
              </a:rPr>
              <a:t>草稿 / 精修分级，语音 3 秒出计划 · 10 秒出结果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54880"/>
            <a:ext cx="3605784" cy="1188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937760"/>
            <a:ext cx="32400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3D74"/>
                </a:solidFill>
                <a:latin typeface="Microsoft YaHei"/>
                <a:ea typeface="Microsoft YaHei"/>
              </a:rPr>
              <a:t>编辑历史树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40096"/>
            <a:ext cx="32400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5E6E80"/>
                </a:solidFill>
                <a:latin typeface="Microsoft YaHei"/>
                <a:ea typeface="Microsoft YaHei"/>
              </a:rPr>
              <a:t>任意节点分支重跑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1584" y="4754880"/>
            <a:ext cx="3605784" cy="1188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74464" y="4937760"/>
            <a:ext cx="32400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3D74"/>
                </a:solidFill>
                <a:latin typeface="Microsoft YaHei"/>
                <a:ea typeface="Microsoft YaHei"/>
              </a:rPr>
              <a:t>条件回滚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4464" y="5340096"/>
            <a:ext cx="32400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5E6E80"/>
                </a:solidFill>
                <a:latin typeface="Microsoft YaHei"/>
                <a:ea typeface="Microsoft YaHei"/>
              </a:rPr>
              <a:t>换回背景 · 保留光照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0248" y="4754880"/>
            <a:ext cx="3605784" cy="1188720"/>
          </a:xfrm>
          <a:prstGeom prst="roundRect">
            <a:avLst>
              <a:gd name="adj" fmla="val 8000"/>
            </a:avLst>
          </a:prstGeom>
          <a:solidFill>
            <a:srgbClr val="F0F5F1"/>
          </a:solidFill>
          <a:ln w="10160">
            <a:solidFill>
              <a:srgbClr val="4E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63128" y="4937760"/>
            <a:ext cx="32400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E7C6B"/>
                </a:solidFill>
                <a:latin typeface="Microsoft YaHei"/>
                <a:ea typeface="Microsoft YaHei"/>
              </a:rPr>
              <a:t>退化缓解 [27]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5340096"/>
            <a:ext cx="32400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5E6E80"/>
                </a:solidFill>
                <a:latin typeface="Microsoft YaHei"/>
                <a:ea typeface="Microsoft YaHei"/>
              </a:rPr>
              <a:t>第 3 轮 22.55 → 目标 ≥ 60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13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技术可行性 ① 图像抠取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FEASIBILITY · MATTING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成熟基线 + 域微调，指标可验证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s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3291840" cy="2289778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02920" y="368881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3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SAD 演进 · 据 [1][5][8] 自绘</a:t>
            </a:r>
          </a:p>
        </p:txBody>
      </p:sp>
      <p:pic>
        <p:nvPicPr>
          <p:cNvPr id="12" name="Picture 11" descr="crop_matting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41648"/>
            <a:ext cx="3291840" cy="621101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502920" y="4708469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5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发丝级 alpha · 源：RVM [3]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03520"/>
            <a:ext cx="3291840" cy="1060704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" y="5394960"/>
            <a:ext cx="3017520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40" b="1" i="0">
                <a:solidFill>
                  <a:srgbClr val="0F3D74"/>
                </a:solidFill>
                <a:latin typeface="Microsoft YaHei"/>
                <a:ea typeface="Microsoft YaHei"/>
              </a:rPr>
              <a:t>评测协议：Composition-1k [1]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22303F"/>
                </a:solidFill>
                <a:latin typeface="Microsoft YaHei"/>
                <a:ea typeface="Microsoft YaHei"/>
              </a:rPr>
              <a:t>SAD · MSE · Grad · Conn 四指标</a:t>
            </a:r>
          </a:p>
        </p:txBody>
      </p:sp>
      <p:pic>
        <p:nvPicPr>
          <p:cNvPr id="16" name="Picture 15" descr="crop_mat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1353312"/>
            <a:ext cx="4572000" cy="1962694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4160520" y="3361726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4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SAM + 抠图头交互式抠取 · 源：Matte Anything [8]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353312"/>
            <a:ext cx="2724912" cy="2834640"/>
          </a:xfrm>
          <a:prstGeom prst="roundRect">
            <a:avLst>
              <a:gd name="adj" fmla="val 8000"/>
            </a:avLst>
          </a:prstGeom>
          <a:solidFill>
            <a:srgbClr val="FBF6F0"/>
          </a:solidFill>
          <a:ln w="11430">
            <a:solidFill>
              <a:srgbClr val="B97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5712" y="1481328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9743A"/>
                </a:solidFill>
                <a:latin typeface="Microsoft YaHei"/>
                <a:ea typeface="Microsoft YaHei"/>
              </a:rPr>
              <a:t>域微调训练闭环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1828800"/>
            <a:ext cx="2395728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40" b="0" i="0">
                <a:solidFill>
                  <a:srgbClr val="22303F"/>
                </a:solidFill>
                <a:latin typeface="Microsoft YaHei"/>
                <a:ea typeface="Microsoft YaHei"/>
              </a:rPr>
              <a:t>· 训练对：I = αF+(1−α)B 自动构造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40" b="0" i="0">
                <a:solidFill>
                  <a:srgbClr val="22303F"/>
                </a:solidFill>
                <a:latin typeface="Microsoft YaHei"/>
                <a:ea typeface="Microsoft YaHei"/>
              </a:rPr>
              <a:t>· 单次 ≤ 24 h，30 min 存档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40" b="0" i="0">
                <a:solidFill>
                  <a:srgbClr val="22303F"/>
                </a:solidFill>
                <a:latin typeface="Microsoft YaHei"/>
                <a:ea typeface="Microsoft YaHei"/>
              </a:rPr>
              <a:t>· 断点续训 · 抢占式实例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40" b="0" i="0">
                <a:solidFill>
                  <a:srgbClr val="22303F"/>
                </a:solidFill>
                <a:latin typeface="Microsoft YaHei"/>
                <a:ea typeface="Microsoft YaHei"/>
              </a:rPr>
              <a:t>· 本地 1/10 数据冒烟 → 全量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40" b="0" i="0">
                <a:solidFill>
                  <a:srgbClr val="22303F"/>
                </a:solidFill>
                <a:latin typeface="Microsoft YaHei"/>
                <a:ea typeface="Microsoft YaHei"/>
              </a:rPr>
              <a:t>· 训后权重热更新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4663440"/>
            <a:ext cx="7525512" cy="1700784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 w="10795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400" y="4791456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F3D74"/>
                </a:solidFill>
                <a:latin typeface="Microsoft YaHei"/>
                <a:ea typeface="Microsoft YaHei"/>
              </a:rPr>
              <a:t>数据与目标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120640"/>
            <a:ext cx="7178040" cy="1152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80" b="0" i="0">
                <a:solidFill>
                  <a:srgbClr val="22303F"/>
                </a:solidFill>
                <a:latin typeface="Microsoft YaHei"/>
                <a:ea typeface="Microsoft YaHei"/>
              </a:rPr>
              <a:t>· 数据：实验室已有标注 + 公开基准，无需新增大规模标注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80" b="0" i="0">
                <a:solidFill>
                  <a:srgbClr val="22303F"/>
                </a:solidFill>
                <a:latin typeface="Microsoft YaHei"/>
                <a:ea typeface="Microsoft YaHei"/>
              </a:rPr>
              <a:t>· 策略：BiRefNet 自动 + SAM 2 交互，trimap 构造后轻量抠图头精修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80" b="1" i="0">
                <a:solidFill>
                  <a:srgbClr val="2A5DA8"/>
                </a:solidFill>
                <a:latin typeface="Microsoft YaHei"/>
                <a:ea typeface="Microsoft YaHei"/>
              </a:rPr>
              <a:t>· 目标：自建透明目标测试集上 SAD / Grad 相对基线下降 ≥ 10%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14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技术可行性 ② 合成与光影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FEASIBILITY ·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生成底座成熟 · 光影指标领先可查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re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3291840" cy="2289778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02920" y="368881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0F3D74"/>
                </a:solidFill>
                <a:latin typeface="Microsoft YaHei"/>
                <a:ea typeface="Microsoft YaHei"/>
              </a:rPr>
              <a:t>图 15 ｜ </a:t>
            </a:r>
            <a:r>
              <a:rPr sz="10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重打光定量对比</a:t>
            </a:r>
            <a:r>
              <a:rPr sz="10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据 [21][22] </a:t>
            </a:r>
            <a:r>
              <a:rPr sz="10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公开数据</a:t>
            </a:r>
            <a:endParaRPr sz="1000" b="0" i="0" dirty="0">
              <a:solidFill>
                <a:srgbClr val="5E6E80"/>
              </a:solidFill>
              <a:latin typeface="Microsoft YaHei"/>
              <a:ea typeface="Microsoft YaHei"/>
            </a:endParaRPr>
          </a:p>
        </p:txBody>
      </p:sp>
      <p:pic>
        <p:nvPicPr>
          <p:cNvPr id="12" name="Picture 11" descr="crop_vitmatte_pi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41648"/>
            <a:ext cx="3154680" cy="1635914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502920" y="5723282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F3D74"/>
                </a:solidFill>
                <a:latin typeface="Microsoft YaHei"/>
                <a:ea typeface="Microsoft YaHei"/>
              </a:rPr>
              <a:t>图 13 ｜ </a:t>
            </a:r>
            <a:r>
              <a:rPr sz="1000" b="0" i="0">
                <a:solidFill>
                  <a:srgbClr val="5E6E80"/>
                </a:solidFill>
                <a:latin typeface="Microsoft YaHei"/>
                <a:ea typeface="Microsoft YaHei"/>
              </a:rPr>
              <a:t>Trimap 引导原理 · 源：ViTMatte [4]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998464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016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" y="5998464"/>
            <a:ext cx="30175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22303F"/>
                </a:solidFill>
                <a:latin typeface="Microsoft YaHei"/>
                <a:ea typeface="Microsoft YaHei"/>
              </a:rPr>
              <a:t>预训练 ViT 骨干直接适配 → 低成本域微调</a:t>
            </a:r>
          </a:p>
        </p:txBody>
      </p:sp>
      <p:pic>
        <p:nvPicPr>
          <p:cNvPr id="16" name="Picture 15" descr="crop_ctrlnet_de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1353312"/>
            <a:ext cx="5760720" cy="1419605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4160520" y="2818637"/>
            <a:ext cx="5760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F3D74"/>
                </a:solidFill>
                <a:latin typeface="Microsoft YaHei"/>
                <a:ea typeface="Microsoft YaHei"/>
              </a:rPr>
              <a:t>图 6 ｜ </a:t>
            </a:r>
            <a:r>
              <a:rPr sz="1000" b="0" i="0">
                <a:solidFill>
                  <a:srgbClr val="5E6E80"/>
                </a:solidFill>
                <a:latin typeface="Microsoft YaHei"/>
                <a:ea typeface="Microsoft YaHei"/>
              </a:rPr>
              <a:t>结构条件控制背景生成 · 源：ControlNet [12]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1353312"/>
            <a:ext cx="1581912" cy="1737360"/>
          </a:xfrm>
          <a:prstGeom prst="roundRect">
            <a:avLst>
              <a:gd name="adj" fmla="val 9000"/>
            </a:avLst>
          </a:prstGeom>
          <a:solidFill>
            <a:srgbClr val="FBF6F0"/>
          </a:solidFill>
          <a:ln w="10160">
            <a:solidFill>
              <a:srgbClr val="B97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9" name="TextBox 18"/>
          <p:cNvSpPr txBox="1"/>
          <p:nvPr/>
        </p:nvSpPr>
        <p:spPr>
          <a:xfrm>
            <a:off x="10232136" y="1463040"/>
            <a:ext cx="132588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 i="0">
                <a:solidFill>
                  <a:srgbClr val="B9743A"/>
                </a:solidFill>
                <a:latin typeface="Microsoft YaHei"/>
                <a:ea typeface="Microsoft YaHei"/>
              </a:rPr>
              <a:t>生成底座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22303F"/>
                </a:solidFill>
                <a:latin typeface="Microsoft YaHei"/>
                <a:ea typeface="Microsoft YaHei"/>
              </a:rPr>
              <a:t>SDXL / FLUX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22303F"/>
                </a:solidFill>
                <a:latin typeface="Microsoft YaHei"/>
                <a:ea typeface="Microsoft YaHei"/>
              </a:rPr>
              <a:t>+ 风格 LoRA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22303F"/>
                </a:solidFill>
                <a:latin typeface="Microsoft YaHei"/>
                <a:ea typeface="Microsoft YaHei"/>
              </a:rPr>
              <a:t>轻量训练即可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566160"/>
            <a:ext cx="7525512" cy="2798064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 w="10795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1" name="TextBox 20"/>
          <p:cNvSpPr txBox="1"/>
          <p:nvPr/>
        </p:nvSpPr>
        <p:spPr>
          <a:xfrm>
            <a:off x="4343400" y="3694176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F3D74"/>
                </a:solidFill>
                <a:latin typeface="Microsoft YaHei"/>
                <a:ea typeface="Microsoft YaHei"/>
              </a:rPr>
              <a:t>融合模块实验设计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041648"/>
            <a:ext cx="1298448" cy="475488"/>
          </a:xfrm>
          <a:prstGeom prst="roundRect">
            <a:avLst>
              <a:gd name="adj" fmla="val 12000"/>
            </a:avLst>
          </a:prstGeom>
          <a:solidFill>
            <a:srgbClr val="DCE7F3"/>
          </a:solidFill>
          <a:ln w="762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3" name="TextBox 22"/>
          <p:cNvSpPr txBox="1"/>
          <p:nvPr/>
        </p:nvSpPr>
        <p:spPr>
          <a:xfrm>
            <a:off x="4343400" y="4041648"/>
            <a:ext cx="129844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3D74"/>
                </a:solidFill>
                <a:latin typeface="Microsoft YaHei"/>
                <a:ea typeface="Microsoft YaHei"/>
              </a:rPr>
              <a:t>对比基线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041648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2303F"/>
                </a:solidFill>
                <a:latin typeface="Microsoft YaHei"/>
                <a:ea typeface="Microsoft YaHei"/>
              </a:rPr>
              <a:t>直接合成 / 仅和谐化 [13] / 仅重打光 [20] / 本方法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608576"/>
            <a:ext cx="1298448" cy="475488"/>
          </a:xfrm>
          <a:prstGeom prst="roundRect">
            <a:avLst>
              <a:gd name="adj" fmla="val 12000"/>
            </a:avLst>
          </a:prstGeom>
          <a:solidFill>
            <a:srgbClr val="DCE7F3"/>
          </a:solidFill>
          <a:ln w="762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6" name="TextBox 25"/>
          <p:cNvSpPr txBox="1"/>
          <p:nvPr/>
        </p:nvSpPr>
        <p:spPr>
          <a:xfrm>
            <a:off x="4343400" y="4608576"/>
            <a:ext cx="129844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3D74"/>
                </a:solidFill>
                <a:latin typeface="Microsoft YaHei"/>
                <a:ea typeface="Microsoft YaHei"/>
              </a:rPr>
              <a:t>客观指标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608576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2303F"/>
                </a:solidFill>
                <a:latin typeface="Microsoft YaHei"/>
                <a:ea typeface="Microsoft YaHei"/>
              </a:rPr>
              <a:t>LPIPS · PSNR + 前后景光照一致性评分（自建）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5175504"/>
            <a:ext cx="1298448" cy="475488"/>
          </a:xfrm>
          <a:prstGeom prst="roundRect">
            <a:avLst>
              <a:gd name="adj" fmla="val 12000"/>
            </a:avLst>
          </a:prstGeom>
          <a:solidFill>
            <a:srgbClr val="DCE7F3"/>
          </a:solidFill>
          <a:ln w="762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9" name="TextBox 28"/>
          <p:cNvSpPr txBox="1"/>
          <p:nvPr/>
        </p:nvSpPr>
        <p:spPr>
          <a:xfrm>
            <a:off x="4343400" y="5175504"/>
            <a:ext cx="129844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3D74"/>
                </a:solidFill>
                <a:latin typeface="Microsoft YaHei"/>
                <a:ea typeface="Microsoft YaHei"/>
              </a:rPr>
              <a:t>主观验证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175504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2303F"/>
                </a:solidFill>
                <a:latin typeface="Microsoft YaHei"/>
                <a:ea typeface="Microsoft YaHei"/>
              </a:rPr>
              <a:t>用户研究 n ≥ 10，合成自然度与「贴纸感」双评分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5742432"/>
            <a:ext cx="1298448" cy="475488"/>
          </a:xfrm>
          <a:prstGeom prst="roundRect">
            <a:avLst>
              <a:gd name="adj" fmla="val 12000"/>
            </a:avLst>
          </a:prstGeom>
          <a:solidFill>
            <a:srgbClr val="DCE7F3"/>
          </a:solidFill>
          <a:ln w="762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2" name="TextBox 31"/>
          <p:cNvSpPr txBox="1"/>
          <p:nvPr/>
        </p:nvSpPr>
        <p:spPr>
          <a:xfrm>
            <a:off x="4343400" y="5742432"/>
            <a:ext cx="129844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F3D74"/>
                </a:solidFill>
                <a:latin typeface="Microsoft YaHei"/>
                <a:ea typeface="Microsoft YaHei"/>
              </a:rPr>
              <a:t>目标阈值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5742432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2303F"/>
                </a:solidFill>
                <a:latin typeface="Microsoft YaHei"/>
                <a:ea typeface="Microsoft YaHei"/>
              </a:rPr>
              <a:t>主观「贴纸感」显著低于直接合成（开题目标）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15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技术可行性 ③ Agent 与综合保障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FEASIBILITY · AGENT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规划器用成熟大模型 · 风险有兜底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edi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3291840" cy="2289778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02920" y="368881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7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多轮退化 · 据 [27] 自绘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05072"/>
            <a:ext cx="3291840" cy="1152144"/>
          </a:xfrm>
          <a:prstGeom prst="roundRect">
            <a:avLst>
              <a:gd name="adj" fmla="val 8000"/>
            </a:avLst>
          </a:prstGeom>
          <a:solidFill>
            <a:srgbClr val="F0F5F1"/>
          </a:solidFill>
          <a:ln w="10795">
            <a:solidFill>
              <a:srgbClr val="4E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4114800"/>
            <a:ext cx="3017520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4E7C6B"/>
                </a:solidFill>
                <a:latin typeface="Microsoft YaHei"/>
                <a:ea typeface="Microsoft YaHei"/>
              </a:rPr>
              <a:t>应对闭环：</a:t>
            </a:r>
            <a:r>
              <a:rPr sz="840" b="0" i="0">
                <a:solidFill>
                  <a:srgbClr val="22303F"/>
                </a:solidFill>
                <a:latin typeface="Microsoft YaHei"/>
                <a:ea typeface="Microsoft YaHei"/>
              </a:rPr>
              <a:t>规划器只出计划不生成像素，DAG 状态管理 + 条件回滚针对退化 [27]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03520"/>
            <a:ext cx="3291840" cy="1042415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" y="5413248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22303F"/>
                </a:solidFill>
                <a:latin typeface="Microsoft YaHei"/>
                <a:ea typeface="Microsoft YaHei"/>
              </a:rPr>
              <a:t>语音链路组件（ASR / TTS）全开源可本地部署，3 秒出计划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353312"/>
            <a:ext cx="7525512" cy="111556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160520" y="1353312"/>
            <a:ext cx="822960" cy="1115568"/>
          </a:xfrm>
          <a:prstGeom prst="roundRect">
            <a:avLst>
              <a:gd name="adj" fmla="val 10000"/>
            </a:avLst>
          </a:prstGeom>
          <a:solidFill>
            <a:srgbClr val="2A5DA8"/>
          </a:solidFill>
          <a:ln>
            <a:solidFill>
              <a:srgbClr val="2A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1353312"/>
            <a:ext cx="822960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1353312"/>
            <a:ext cx="6336792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 i="0">
                <a:solidFill>
                  <a:srgbClr val="22303F"/>
                </a:solidFill>
                <a:latin typeface="Microsoft YaHei"/>
                <a:ea typeface="Microsoft YaHei"/>
              </a:rPr>
              <a:t>全链路开源：BiRefNet [5] · SAM 2 [7] · ControlNet [12] · IC-Light [20]，社区长期维护，基线可快速复现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578608"/>
            <a:ext cx="7525512" cy="111556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60520" y="2578608"/>
            <a:ext cx="822960" cy="1115568"/>
          </a:xfrm>
          <a:prstGeom prst="roundRect">
            <a:avLst>
              <a:gd name="adj" fmla="val 10000"/>
            </a:avLst>
          </a:prstGeom>
          <a:solidFill>
            <a:srgbClr val="2A5DA8"/>
          </a:solidFill>
          <a:ln>
            <a:solidFill>
              <a:srgbClr val="2A5D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2578608"/>
            <a:ext cx="822960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578608"/>
            <a:ext cx="6336792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 i="0">
                <a:solidFill>
                  <a:srgbClr val="22303F"/>
                </a:solidFill>
                <a:latin typeface="Microsoft YaHei"/>
                <a:ea typeface="Microsoft YaHei"/>
              </a:rPr>
              <a:t>实验室标注数据可直接域微调；Composition-1k [1] / iHarmony4 [13] 公开基准验证，无新增大规模标注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803904"/>
            <a:ext cx="7525512" cy="111556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160520" y="3803904"/>
            <a:ext cx="822960" cy="1115568"/>
          </a:xfrm>
          <a:prstGeom prst="roundRect">
            <a:avLst>
              <a:gd name="adj" fmla="val 10000"/>
            </a:avLst>
          </a:prstGeom>
          <a:solidFill>
            <a:srgbClr val="B9743A"/>
          </a:solidFill>
          <a:ln>
            <a:solidFill>
              <a:srgbClr val="B97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3803904"/>
            <a:ext cx="822960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算力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803904"/>
            <a:ext cx="6336792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 i="0">
                <a:solidFill>
                  <a:srgbClr val="22303F"/>
                </a:solidFill>
                <a:latin typeface="Microsoft YaHei"/>
                <a:ea typeface="Microsoft YaHei"/>
              </a:rPr>
              <a:t>实验室 4×RTX A6000（48G）承担推理与小训练；外部租用「短任务 + 断点续训 + 抢占实例」，成本可控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5029200"/>
            <a:ext cx="7525512" cy="111556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160520" y="5029200"/>
            <a:ext cx="822960" cy="1115568"/>
          </a:xfrm>
          <a:prstGeom prst="roundRect">
            <a:avLst>
              <a:gd name="adj" fmla="val 10000"/>
            </a:avLst>
          </a:prstGeom>
          <a:solidFill>
            <a:srgbClr val="4E7C6B"/>
          </a:solidFill>
          <a:ln>
            <a:solidFill>
              <a:srgbClr val="4E7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60520" y="5029200"/>
            <a:ext cx="822960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团队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5029200"/>
            <a:ext cx="6336792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 i="0">
                <a:solidFill>
                  <a:srgbClr val="22303F"/>
                </a:solidFill>
                <a:latin typeface="Microsoft YaHei"/>
                <a:ea typeface="Microsoft YaHei"/>
              </a:rPr>
              <a:t>三人分工：Agent 后端 / 图像算法训练 / 前端语音；接口先行并行开发，两周对齐 + 节点封版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272783"/>
            <a:ext cx="752551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0" i="0">
                <a:solidFill>
                  <a:srgbClr val="5E6E80"/>
                </a:solidFill>
                <a:latin typeface="Microsoft YaHei"/>
                <a:ea typeface="Microsoft YaHei"/>
              </a:rPr>
              <a:t>风险与对策：生成不稳 → 程序化降级；外部算力不可用 → 实验室夜间兜底；进度 → MVP 底线分级取舍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16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实际应用价值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APPLICATION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效率</a:t>
            </a:r>
            <a:r>
              <a:rPr sz="9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</a:t>
            </a:r>
            <a:r>
              <a:rPr sz="9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门槛</a:t>
            </a:r>
            <a:r>
              <a:rPr sz="900" b="0" i="0" dirty="0">
                <a:solidFill>
                  <a:srgbClr val="5E6E80"/>
                </a:solidFill>
                <a:latin typeface="Microsoft YaHei"/>
                <a:ea typeface="Microsoft YaHei"/>
              </a:rPr>
              <a:t> · </a:t>
            </a:r>
            <a:r>
              <a:rPr sz="900" b="0" i="0" dirty="0" err="1">
                <a:solidFill>
                  <a:srgbClr val="5E6E80"/>
                </a:solidFill>
                <a:latin typeface="Microsoft YaHei"/>
                <a:ea typeface="Microsoft YaHei"/>
              </a:rPr>
              <a:t>生态：从工具到闭环</a:t>
            </a:r>
            <a:endParaRPr sz="900" b="0" i="0" dirty="0">
              <a:solidFill>
                <a:srgbClr val="5E6E80"/>
              </a:solidFill>
              <a:latin typeface="Microsoft YaHei"/>
              <a:ea typeface="Microsoft YaHei"/>
            </a:endParaRP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appclo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53312"/>
            <a:ext cx="6343269" cy="2578608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685800" y="3977639"/>
            <a:ext cx="7223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19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应用场景与上下游闭环（自绘）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16736"/>
            <a:ext cx="3502152" cy="786384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Rectangle 12"/>
          <p:cNvSpPr/>
          <p:nvPr/>
        </p:nvSpPr>
        <p:spPr>
          <a:xfrm>
            <a:off x="8183879" y="1316736"/>
            <a:ext cx="45720" cy="786384"/>
          </a:xfrm>
          <a:prstGeom prst="rect">
            <a:avLst/>
          </a:prstGeom>
          <a:solidFill>
            <a:srgbClr val="B9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8348471" y="1389888"/>
            <a:ext cx="32278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B9743A"/>
                </a:solidFill>
                <a:latin typeface="Microsoft YaHei"/>
                <a:ea typeface="Microsoft YaHei"/>
              </a:rPr>
              <a:t>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664207"/>
            <a:ext cx="322783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2303F"/>
                </a:solidFill>
                <a:latin typeface="Microsoft YaHei"/>
                <a:ea typeface="Microsoft YaHei"/>
              </a:rPr>
              <a:t>数小时 / 张 → ≤ 10 秒 / 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865376"/>
            <a:ext cx="322783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E6E80"/>
                </a:solidFill>
                <a:latin typeface="Microsoft YaHei"/>
                <a:ea typeface="Microsoft YaHei"/>
              </a:rPr>
              <a:t>批量自动化产能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2212848"/>
            <a:ext cx="3502152" cy="786384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Rectangle 17"/>
          <p:cNvSpPr/>
          <p:nvPr/>
        </p:nvSpPr>
        <p:spPr>
          <a:xfrm>
            <a:off x="8183879" y="2212848"/>
            <a:ext cx="45720" cy="786384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8348471" y="2286000"/>
            <a:ext cx="32278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2A5DA8"/>
                </a:solidFill>
                <a:latin typeface="Microsoft YaHei"/>
                <a:ea typeface="Microsoft YaHei"/>
              </a:rPr>
              <a:t>门槛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560320"/>
            <a:ext cx="322783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2303F"/>
                </a:solidFill>
                <a:latin typeface="Microsoft YaHei"/>
                <a:ea typeface="Microsoft YaHei"/>
              </a:rPr>
              <a:t>语音交互 · 零设计经验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761488"/>
            <a:ext cx="322783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E6E80"/>
                </a:solidFill>
                <a:latin typeface="Microsoft YaHei"/>
                <a:ea typeface="Microsoft YaHei"/>
              </a:rPr>
              <a:t>自然语言直达成片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108960"/>
            <a:ext cx="3502152" cy="786384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9525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Rectangle 22"/>
          <p:cNvSpPr/>
          <p:nvPr/>
        </p:nvSpPr>
        <p:spPr>
          <a:xfrm>
            <a:off x="8183879" y="3108960"/>
            <a:ext cx="45720" cy="786384"/>
          </a:xfrm>
          <a:prstGeom prst="rect">
            <a:avLst/>
          </a:prstGeom>
          <a:solidFill>
            <a:srgbClr val="4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/>
          <p:cNvSpPr txBox="1"/>
          <p:nvPr/>
        </p:nvSpPr>
        <p:spPr>
          <a:xfrm>
            <a:off x="8348471" y="3182112"/>
            <a:ext cx="32278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4E7C6B"/>
                </a:solidFill>
                <a:latin typeface="Microsoft YaHei"/>
                <a:ea typeface="Microsoft YaHei"/>
              </a:rPr>
              <a:t>生态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3456432"/>
            <a:ext cx="322783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2303F"/>
                </a:solidFill>
                <a:latin typeface="Microsoft YaHei"/>
                <a:ea typeface="Microsoft YaHei"/>
              </a:rPr>
              <a:t>试衣成片闭环 · 框架可迁移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3657600"/>
            <a:ext cx="322783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E6E80"/>
                </a:solidFill>
                <a:latin typeface="Microsoft YaHei"/>
                <a:ea typeface="Microsoft YaHei"/>
              </a:rPr>
              <a:t>沉淀 Agent 工具链资产</a:t>
            </a:r>
          </a:p>
        </p:txBody>
      </p:sp>
      <p:pic>
        <p:nvPicPr>
          <p:cNvPr id="27" name="Picture 26" descr="crop_ip2p_mul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24" y="4041648"/>
            <a:ext cx="2279705" cy="1828800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705424" y="5925312"/>
            <a:ext cx="227970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8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多轮指令编辑 · 源 [25]</a:t>
            </a:r>
          </a:p>
        </p:txBody>
      </p:sp>
      <p:pic>
        <p:nvPicPr>
          <p:cNvPr id="29" name="Picture 28" descr="crop_sam2_pv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297" y="4041648"/>
            <a:ext cx="5059920" cy="18288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3186297" y="5925312"/>
            <a:ext cx="5059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17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点击指代 · 源 [7]</a:t>
            </a:r>
          </a:p>
        </p:txBody>
      </p:sp>
      <p:pic>
        <p:nvPicPr>
          <p:cNvPr id="31" name="Picture 30" descr="crop_vitmatte_co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7386" y="4041648"/>
            <a:ext cx="3221764" cy="1828800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8447386" y="5925312"/>
            <a:ext cx="322176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F3D74"/>
                </a:solidFill>
                <a:latin typeface="Microsoft YaHei"/>
                <a:ea typeface="Microsoft YaHei"/>
              </a:rPr>
              <a:t>图 20 ｜ </a:t>
            </a:r>
            <a:r>
              <a:rPr sz="660" b="0" i="0">
                <a:solidFill>
                  <a:srgbClr val="5E6E80"/>
                </a:solidFill>
                <a:latin typeface="Microsoft YaHei"/>
                <a:ea typeface="Microsoft YaHei"/>
              </a:rPr>
              <a:t>抠取—合成效果 · 源 [4]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217920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B9743A"/>
                </a:solidFill>
                <a:latin typeface="Microsoft YaHei"/>
                <a:ea typeface="Microsoft YaHei"/>
              </a:rPr>
              <a:t>上下游闭环：</a:t>
            </a:r>
            <a:r>
              <a:rPr sz="1600" b="0" i="0">
                <a:solidFill>
                  <a:srgbClr val="22303F"/>
                </a:solidFill>
                <a:latin typeface="Microsoft YaHei"/>
                <a:ea typeface="Microsoft YaHei"/>
              </a:rPr>
              <a:t>虚拟试衣输出模特图像 → 本系统抠取与光影融合 → 电商成片 / 影视后期 / 创意内容直接交付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17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预期成果与进度安排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DELIVERABLES &amp; SCHEDULE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g_gantt2.png"/>
          <p:cNvPicPr>
            <a:picLocks noChangeAspect="1"/>
          </p:cNvPicPr>
          <p:nvPr/>
        </p:nvPicPr>
        <p:blipFill>
          <a:blip r:embed="rId3"/>
          <a:srcRect t="11062" b="10054"/>
          <a:stretch>
            <a:fillRect/>
          </a:stretch>
        </p:blipFill>
        <p:spPr>
          <a:xfrm>
            <a:off x="502920" y="1666240"/>
            <a:ext cx="6355080" cy="2101088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502920" y="4462272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DCE7F3"/>
          </a:solidFill>
          <a:ln w="9525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502920" y="4462272"/>
            <a:ext cx="115214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0F3D74"/>
                </a:solidFill>
                <a:latin typeface="Microsoft YaHei"/>
                <a:ea typeface="Microsoft YaHei"/>
              </a:rPr>
              <a:t>基线跑通</a:t>
            </a:r>
            <a:endParaRPr sz="1400" b="0" i="0" dirty="0">
              <a:solidFill>
                <a:srgbClr val="0F3D74"/>
              </a:solidFill>
              <a:latin typeface="Microsoft YaHei"/>
              <a:ea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856232" y="4462272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DCE7F3"/>
          </a:solidFill>
          <a:ln w="9525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856232" y="4462272"/>
            <a:ext cx="14447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0F3D74"/>
                </a:solidFill>
                <a:latin typeface="Microsoft YaHei"/>
                <a:ea typeface="Microsoft YaHei"/>
              </a:rPr>
              <a:t>语音链路贯通</a:t>
            </a:r>
            <a:endParaRPr sz="1400" b="0" i="0" dirty="0">
              <a:solidFill>
                <a:srgbClr val="0F3D74"/>
              </a:solidFill>
              <a:latin typeface="Microsoft YaHei"/>
              <a:ea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02152" y="4462272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DCE7F3"/>
          </a:solidFill>
          <a:ln w="9525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3502152" y="4462272"/>
            <a:ext cx="115214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0F3D74"/>
                </a:solidFill>
                <a:latin typeface="Microsoft YaHei"/>
                <a:ea typeface="Microsoft YaHei"/>
              </a:rPr>
              <a:t>系统封版</a:t>
            </a:r>
            <a:endParaRPr sz="1400" b="0" i="0" dirty="0">
              <a:solidFill>
                <a:srgbClr val="0F3D74"/>
              </a:solidFill>
              <a:latin typeface="Microsoft YaHei"/>
              <a:ea typeface="Microsoft Ya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55464" y="4462272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DCE7F3"/>
          </a:solidFill>
          <a:ln w="9525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4855464" y="4462272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0F3D74"/>
                </a:solidFill>
                <a:latin typeface="Microsoft YaHei"/>
                <a:ea typeface="Microsoft YaHei"/>
              </a:rPr>
              <a:t>交付</a:t>
            </a:r>
            <a:endParaRPr sz="1400" b="0" i="0" dirty="0">
              <a:solidFill>
                <a:srgbClr val="0F3D74"/>
              </a:solidFill>
              <a:latin typeface="Microsoft YaHei"/>
              <a:ea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5084064"/>
            <a:ext cx="6355080" cy="12801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6E9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5193792"/>
            <a:ext cx="6035040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b="1" i="0" dirty="0" err="1">
                <a:solidFill>
                  <a:srgbClr val="0F3D74"/>
                </a:solidFill>
                <a:latin typeface="Microsoft YaHei"/>
                <a:ea typeface="Microsoft YaHei"/>
              </a:rPr>
              <a:t>推进机制：</a:t>
            </a:r>
            <a:r>
              <a:rPr sz="1600" b="0" i="0" dirty="0" err="1">
                <a:solidFill>
                  <a:srgbClr val="22303F"/>
                </a:solidFill>
                <a:latin typeface="Microsoft YaHei"/>
                <a:ea typeface="Microsoft YaHei"/>
              </a:rPr>
              <a:t>两周日程对齐</a:t>
            </a:r>
            <a:r>
              <a:rPr sz="1600" b="0" i="0" dirty="0">
                <a:solidFill>
                  <a:srgbClr val="22303F"/>
                </a:solidFill>
                <a:latin typeface="Microsoft YaHei"/>
                <a:ea typeface="Microsoft YaHei"/>
              </a:rPr>
              <a:t> · </a:t>
            </a:r>
            <a:r>
              <a:rPr sz="1600" b="0" i="0" dirty="0" err="1">
                <a:solidFill>
                  <a:srgbClr val="22303F"/>
                </a:solidFill>
                <a:latin typeface="Microsoft YaHei"/>
                <a:ea typeface="Microsoft YaHei"/>
              </a:rPr>
              <a:t>关键节点封版；以最小可行系统（MVP）为底线分级取舍</a:t>
            </a:r>
            <a:endParaRPr sz="1600" b="0" i="0" dirty="0">
              <a:solidFill>
                <a:srgbClr val="22303F"/>
              </a:solidFill>
              <a:latin typeface="Microsoft YaHei"/>
              <a:ea typeface="Microsoft YaHe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178040" y="1371600"/>
            <a:ext cx="4507992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Rectangle 22"/>
          <p:cNvSpPr/>
          <p:nvPr/>
        </p:nvSpPr>
        <p:spPr>
          <a:xfrm>
            <a:off x="7178040" y="1371600"/>
            <a:ext cx="54864" cy="1133856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/>
          <p:cNvSpPr txBox="1"/>
          <p:nvPr/>
        </p:nvSpPr>
        <p:spPr>
          <a:xfrm>
            <a:off x="7379208" y="14630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2A5DA8"/>
                </a:solidFill>
                <a:latin typeface="Times New Roman"/>
                <a:ea typeface="Microsoft YaHe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4423" y="1481328"/>
            <a:ext cx="353872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2A5DA8"/>
                </a:solidFill>
                <a:latin typeface="Microsoft YaHei"/>
                <a:ea typeface="Microsoft YaHei"/>
              </a:rPr>
              <a:t>可运行系统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4423" y="1810512"/>
            <a:ext cx="3538727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语音交互合成网站：指令 3 秒出计划 · 10 秒出结果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2633472"/>
            <a:ext cx="4507992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8" name="Rectangle 27"/>
          <p:cNvSpPr/>
          <p:nvPr/>
        </p:nvSpPr>
        <p:spPr>
          <a:xfrm>
            <a:off x="7178040" y="2633472"/>
            <a:ext cx="54864" cy="1133856"/>
          </a:xfrm>
          <a:prstGeom prst="rect">
            <a:avLst/>
          </a:prstGeom>
          <a:solidFill>
            <a:srgbClr val="B9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9" name="TextBox 28"/>
          <p:cNvSpPr txBox="1"/>
          <p:nvPr/>
        </p:nvSpPr>
        <p:spPr>
          <a:xfrm>
            <a:off x="7379208" y="272491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B9743A"/>
                </a:solidFill>
                <a:latin typeface="Times New Roman"/>
                <a:ea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4423" y="2743200"/>
            <a:ext cx="353872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B9743A"/>
                </a:solidFill>
                <a:latin typeface="Microsoft YaHei"/>
                <a:ea typeface="Microsoft YaHei"/>
              </a:rPr>
              <a:t>量化实验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4423" y="3072384"/>
            <a:ext cx="3538727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域微调前后对比 · 多基线主客观对比 · 用户研究 n≥10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3895344"/>
            <a:ext cx="4507992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3" name="Rectangle 32"/>
          <p:cNvSpPr/>
          <p:nvPr/>
        </p:nvSpPr>
        <p:spPr>
          <a:xfrm>
            <a:off x="7178040" y="3895344"/>
            <a:ext cx="54864" cy="1133856"/>
          </a:xfrm>
          <a:prstGeom prst="rect">
            <a:avLst/>
          </a:prstGeom>
          <a:solidFill>
            <a:srgbClr val="2A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4" name="TextBox 33"/>
          <p:cNvSpPr txBox="1"/>
          <p:nvPr/>
        </p:nvSpPr>
        <p:spPr>
          <a:xfrm>
            <a:off x="7379208" y="3986783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2A5DA8"/>
                </a:solidFill>
                <a:latin typeface="Times New Roman"/>
                <a:ea typeface="Microsoft YaHe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4423" y="4005072"/>
            <a:ext cx="353872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2A5DA8"/>
                </a:solidFill>
                <a:latin typeface="Microsoft YaHei"/>
                <a:ea typeface="Microsoft YaHei"/>
              </a:rPr>
              <a:t>软件成果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4423" y="4334256"/>
            <a:ext cx="3538727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工具链与 Agent 框架源码 · 模型权重（含自有 LoRA）· 部署文档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78040" y="5157216"/>
            <a:ext cx="4507992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9D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8" name="Rectangle 37"/>
          <p:cNvSpPr/>
          <p:nvPr/>
        </p:nvSpPr>
        <p:spPr>
          <a:xfrm>
            <a:off x="7178040" y="5157216"/>
            <a:ext cx="54864" cy="1133856"/>
          </a:xfrm>
          <a:prstGeom prst="rect">
            <a:avLst/>
          </a:prstGeom>
          <a:solidFill>
            <a:srgbClr val="4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9" name="TextBox 38"/>
          <p:cNvSpPr txBox="1"/>
          <p:nvPr/>
        </p:nvSpPr>
        <p:spPr>
          <a:xfrm>
            <a:off x="7379208" y="5248655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4E7C6B"/>
                </a:solidFill>
                <a:latin typeface="Times New Roman"/>
                <a:ea typeface="Microsoft YaHe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64423" y="5266944"/>
            <a:ext cx="353872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rgbClr val="4E7C6B"/>
                </a:solidFill>
                <a:latin typeface="Microsoft YaHei"/>
                <a:ea typeface="Microsoft YaHei"/>
              </a:rPr>
              <a:t>文档成果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64423" y="5596127"/>
            <a:ext cx="3538727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2303F"/>
                </a:solidFill>
                <a:latin typeface="Microsoft YaHei"/>
                <a:ea typeface="Microsoft YaHei"/>
              </a:rPr>
              <a:t>技术报告（含失败案例）· 3 分钟演示视频 · 支撑论文投稿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18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1">
                <a:solidFill>
                  <a:srgbClr val="B9743A"/>
                </a:solidFill>
                <a:latin typeface="Times New Roman"/>
                <a:ea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274320"/>
            <a:ext cx="6035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F3D74"/>
                </a:solidFill>
                <a:latin typeface="Microsoft YaHei"/>
                <a:ea typeface="Microsoft YaHei"/>
              </a:rPr>
              <a:t>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74980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E6E80"/>
                </a:solidFill>
                <a:latin typeface="Times New Roman"/>
                <a:ea typeface="Microsoft YaHei"/>
              </a:rPr>
              <a:t>REFERENCES · GB/T 7714—2015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40233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E6E80"/>
                </a:solidFill>
                <a:latin typeface="Microsoft YaHei"/>
                <a:ea typeface="Microsoft YaHei"/>
              </a:rPr>
              <a:t>共 30 条 · 2022 年及以后 27 条（90%）</a:t>
            </a:r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274320"/>
            <a:ext cx="567393" cy="566928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144000" y="84124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5E6E80"/>
                </a:solidFill>
                <a:latin typeface="Microsoft YaHei"/>
                <a:ea typeface="Microsoft YaHei"/>
              </a:rPr>
              <a:t>天津大学 · 生产实习开题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1430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1115568"/>
            <a:ext cx="1874520" cy="0"/>
          </a:xfrm>
          <a:prstGeom prst="line">
            <a:avLst/>
          </a:prstGeom>
          <a:ln w="27940">
            <a:solidFill>
              <a:srgbClr val="0F3D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316736"/>
            <a:ext cx="3639312" cy="502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[1]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XU N, PRICE B, COHEN S, et al. Deep image matting[C]//CVPR. 2017: 2970-2979.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KE Z, LI K, ZHOU Y, et al. Is a green screen really necessary for real-time portrait matting?[C]//WACV. 2022: 1635-1644.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[3]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LIN S, YANG L, SALEEMI I, et al. Robust high-resolution video matting with temporal guidance[C]//WACV. 2022: 238-247.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[4]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YAO J, WANG X, YANG S, et al.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ViTMatte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[J]. Information Fusion, 2024, 103: 102091.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[5]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ZHENG P, GAO D, FAN D P, et al. Bilateral reference for high-resolution dichotomous image segmentation[J]. CAAI AIR, 2024, 3(2): 26-36.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[6]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KIRILLOV A, MINTUN E, RAVI N, et al. Segment anything[C]//ICCV. 2023: 4015-4026.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[7]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RAVI N, GABEUR V, HU Y T, et al. SAM 2[EB/OL]. arXiv:2408.00714, 2024.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[8]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Matte anything[EB/OL]. arXiv:2306.04121, 2023.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[9]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BRIA AI. RMBG-2.0[EB/OL]. (2024)[2026-09-07]. huggingface.co/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briaai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/RMBG-2.0.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[10]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HO J, JAIN A, ABBEEL P. Denoising diffusion probabilistic models[C]//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NeurIPS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. 2020: 6840-6851.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1316736"/>
            <a:ext cx="3639312" cy="502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[11]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ROMBACH R, BLATTMANN A, LORENZ D, et al. High-resolution image synthesis with latent diffusion models[C]//CVPR. 2022: 10684-10695.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[12]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ZHANG L, RAO A, AGRAWALA M. Adding conditional control to text-to-image diffusion models[C]//ICCV. 2023: 3836-3847.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[13]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CONG W, ZHANG J, NIU L, et al.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DoveNet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[C]//CVPR. 2020: 8394-8403.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[14]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KE Z, SUN C, ZHU L, et al. Harmonizer[C]//ECCV. 2022: 324-341.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[15]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YANG B, GU S, ZHANG B, et al. Paint by example[C]//CVPR. 2023: 18381-18391.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[16]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CHEN X, HUANG L, LIU Y, et al.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AnyDoor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[C]//ECCV. 2024.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[17]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AHMED W, DIEPEVEEN D, SOHEL F.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StructFuse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[J]. Pattern Recognition, 2026, 180: 114609.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[18]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LI G, ZHAO B, LI X. Image harmonization in complex degradation scenes[J]. Pattern Recognition, 2026, 171: 112227.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[19]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程显贺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,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孟祥瑞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,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纪昂霄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, 等.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动态图融合的图像和谐化方法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[J].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计算机工程与应用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, 2026, 62(5): 293-301.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[20]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ZHANG L. IC-Light[EB/OL]. (2024)[2026-09-07]. github.com/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lllyasviel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/IC-Light.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5864" y="1316736"/>
            <a:ext cx="3639312" cy="502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[21]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KIM H, JANG M, YOON W, et al.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SwitchLight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[C]//CVPR. 2024.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[22]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ZENG C, DONG Y, PEERS P, et al.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DiLightNet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[C]//ECCV. 2024.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[23]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AHMED W, DIEPEVEEN D, SOHEL F.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CoShadow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[EB/OL]. arXiv:2603.02743, 2026.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[24]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HU S, XU J, DAVE A, et al. Embedding physical reasoning into diffusion-based shadow generation[EB/OL]. arXiv:2512.06174, 2026.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[25]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BROOKS T, HOLYNSKI A, EFROS A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A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. InstructPix2Pix[C]//CVPR. 2023: 18392-18402.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[26]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ZHUANG K, MO L, CHEN W, et al.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MagicBrush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[C]//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NeurIPS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. 2023.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[27] 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EdiVal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-agent[C]//ICLR. 2026.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[28]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MT-</a:t>
            </a:r>
            <a:r>
              <a:rPr sz="1050" b="0" i="0" dirty="0" err="1">
                <a:solidFill>
                  <a:srgbClr val="22303F"/>
                </a:solidFill>
                <a:latin typeface="Times New Roman"/>
                <a:ea typeface="Microsoft YaHei"/>
              </a:rPr>
              <a:t>EditFlow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[EB/OL]. arXiv:2606.01985, 2026.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[29]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ZÜFLE M, PAPI S, RETKOWSKI F, et al. Do what I say[EB/OL]. arXiv:2603.09881, 2026.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1" i="0" dirty="0">
                <a:solidFill>
                  <a:srgbClr val="0F3D74"/>
                </a:solidFill>
                <a:latin typeface="Times New Roman"/>
                <a:ea typeface="Microsoft YaHei"/>
              </a:rPr>
              <a:t>[30] </a:t>
            </a:r>
            <a:r>
              <a:rPr sz="1050" b="0" i="0" dirty="0">
                <a:solidFill>
                  <a:srgbClr val="22303F"/>
                </a:solidFill>
                <a:latin typeface="Times New Roman"/>
                <a:ea typeface="Microsoft YaHei"/>
              </a:rPr>
              <a:t>SHI W, HERREMANS D, CHOO K T W. When drawing is not enough[EB/OL]. arXiv:2604.11964, 2026.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6217920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9525">
            <a:solidFill>
              <a:srgbClr val="C9D5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83680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E6E80"/>
                </a:solidFill>
                <a:latin typeface="Microsoft YaHei"/>
                <a:ea typeface="Microsoft YaHei"/>
              </a:rPr>
              <a:t>面向真实感图像合成的图像抠取与光影一致性融合方法研究 · 开题答辩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565392"/>
            <a:ext cx="181051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0F3D74"/>
                </a:solidFill>
                <a:latin typeface="Times New Roman"/>
                <a:ea typeface="Microsoft YaHei"/>
              </a:rPr>
              <a:t>19</a:t>
            </a:r>
            <a:r>
              <a:rPr sz="800" b="0" i="0">
                <a:solidFill>
                  <a:srgbClr val="5E6E80"/>
                </a:solidFill>
                <a:latin typeface="Times New Roman"/>
                <a:ea typeface="Microsoft YaHei"/>
              </a:rPr>
              <a:t>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2608</Words>
  <Application>Microsoft Office PowerPoint</Application>
  <PresentationFormat>宽屏</PresentationFormat>
  <Paragraphs>426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Microsoft YaHei</vt:lpstr>
      <vt:lpstr>Microsoft YaHei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亨通 郑</cp:lastModifiedBy>
  <cp:revision>2</cp:revision>
  <dcterms:created xsi:type="dcterms:W3CDTF">2013-01-27T09:14:16Z</dcterms:created>
  <dcterms:modified xsi:type="dcterms:W3CDTF">2026-09-07T15:30:00Z</dcterms:modified>
  <cp:category/>
</cp:coreProperties>
</file>